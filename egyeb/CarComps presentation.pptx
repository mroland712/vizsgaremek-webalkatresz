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comments/modernComment_101_0.xml" ContentType="application/vnd.ms-powerpoint.comments+xml"/>
  <Override PartName="/ppt/notesSlides/notesSlide5.xml" ContentType="application/vnd.openxmlformats-officedocument.presentationml.notesSlide+xml"/>
  <Override PartName="/ppt/comments/modernComment_104_BAD6966C.xml" ContentType="application/vnd.ms-powerpoint.comments+xml"/>
  <Override PartName="/ppt/notesSlides/notesSlide6.xml" ContentType="application/vnd.openxmlformats-officedocument.presentationml.notesSlide+xml"/>
  <Override PartName="/ppt/notesSlides/notesSlide7.xml" ContentType="application/vnd.openxmlformats-officedocument.presentationml.notesSlide+xml"/>
  <Override PartName="/ppt/comments/modernComment_106_420E119A.xml" ContentType="application/vnd.ms-powerpoint.comments+xml"/>
  <Override PartName="/ppt/notesSlides/notesSlide8.xml" ContentType="application/vnd.openxmlformats-officedocument.presentationml.notesSlide+xml"/>
  <Override PartName="/ppt/comments/modernComment_107_6F78E53D.xml" ContentType="application/vnd.ms-powerpoint.comments+xml"/>
  <Override PartName="/ppt/notesSlides/notesSlide9.xml" ContentType="application/vnd.openxmlformats-officedocument.presentationml.notesSlide+xml"/>
  <Override PartName="/ppt/comments/modernComment_10B_8D4715EF.xml" ContentType="application/vnd.ms-powerpoint.comments+xml"/>
  <Override PartName="/ppt/notesSlides/notesSlide10.xml" ContentType="application/vnd.openxmlformats-officedocument.presentationml.notesSlide+xml"/>
  <Override PartName="/ppt/comments/modernComment_11A_A26FCB50.xml" ContentType="application/vnd.ms-powerpoint.comments+xml"/>
  <Override PartName="/ppt/notesSlides/notesSlide11.xml" ContentType="application/vnd.openxmlformats-officedocument.presentationml.notesSlide+xml"/>
  <Override PartName="/ppt/comments/modernComment_10E_DEF6B9B1.xml" ContentType="application/vnd.ms-powerpoint.comments+xml"/>
  <Override PartName="/ppt/notesSlides/notesSlide12.xml" ContentType="application/vnd.openxmlformats-officedocument.presentationml.notesSlide+xml"/>
  <Override PartName="/ppt/comments/modernComment_108_8A2D32FE.xml" ContentType="application/vnd.ms-powerpoint.comments+xml"/>
  <Override PartName="/ppt/notesSlides/notesSlide13.xml" ContentType="application/vnd.openxmlformats-officedocument.presentationml.notesSlide+xml"/>
  <Override PartName="/ppt/comments/modernComment_10F_AE160D34.xml" ContentType="application/vnd.ms-powerpoint.comments+xml"/>
  <Override PartName="/ppt/notesSlides/notesSlide14.xml" ContentType="application/vnd.openxmlformats-officedocument.presentationml.notesSlide+xml"/>
  <Override PartName="/ppt/comments/modernComment_109_F722F283.xml" ContentType="application/vnd.ms-powerpoint.comments+xml"/>
  <Override PartName="/ppt/notesSlides/notesSlide15.xml" ContentType="application/vnd.openxmlformats-officedocument.presentationml.notesSlide+xml"/>
  <Override PartName="/ppt/comments/modernComment_110_274BDCBB.xml" ContentType="application/vnd.ms-powerpoint.comments+xml"/>
  <Override PartName="/ppt/notesSlides/notesSlide16.xml" ContentType="application/vnd.openxmlformats-officedocument.presentationml.notesSlide+xml"/>
  <Override PartName="/ppt/comments/modernComment_10A_1B3A1ED7.xml" ContentType="application/vnd.ms-powerpoint.comments+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27"/>
  </p:notesMasterIdLst>
  <p:sldIdLst>
    <p:sldId id="256" r:id="rId2"/>
    <p:sldId id="284" r:id="rId3"/>
    <p:sldId id="285" r:id="rId4"/>
    <p:sldId id="257" r:id="rId5"/>
    <p:sldId id="260" r:id="rId6"/>
    <p:sldId id="273" r:id="rId7"/>
    <p:sldId id="262" r:id="rId8"/>
    <p:sldId id="263" r:id="rId9"/>
    <p:sldId id="267" r:id="rId10"/>
    <p:sldId id="282" r:id="rId11"/>
    <p:sldId id="270" r:id="rId12"/>
    <p:sldId id="264" r:id="rId13"/>
    <p:sldId id="271" r:id="rId14"/>
    <p:sldId id="265" r:id="rId15"/>
    <p:sldId id="272" r:id="rId16"/>
    <p:sldId id="266" r:id="rId17"/>
    <p:sldId id="269" r:id="rId18"/>
    <p:sldId id="280" r:id="rId19"/>
    <p:sldId id="268" r:id="rId20"/>
    <p:sldId id="277" r:id="rId21"/>
    <p:sldId id="278" r:id="rId22"/>
    <p:sldId id="279" r:id="rId23"/>
    <p:sldId id="275" r:id="rId24"/>
    <p:sldId id="276" r:id="rId25"/>
    <p:sldId id="274" r:id="rId26"/>
  </p:sldIdLst>
  <p:sldSz cx="9144000" cy="5143500" type="screen16x9"/>
  <p:notesSz cx="6858000" cy="9144000"/>
  <p:embeddedFontLst>
    <p:embeddedFont>
      <p:font typeface="Karla" pitchFamily="2" charset="0"/>
      <p:regular r:id="rId28"/>
      <p:bold r:id="rId29"/>
      <p:italic r:id="rId30"/>
      <p:boldItalic r:id="rId31"/>
    </p:embeddedFont>
    <p:embeddedFont>
      <p:font typeface="Karla ExtraBold" pitchFamily="2" charset="0"/>
      <p:bold r:id="rId32"/>
      <p:boldItalic r:id="rId33"/>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1851B7A5-912D-2709-BF5B-63C07128C910}" name="Roland Mészáros" initials="RM" userId="a58f71461cbafbd8"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FF6600"/>
    <a:srgbClr val="919191"/>
    <a:srgbClr val="B0B8C2"/>
    <a:srgbClr val="696EE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3CABF66-5184-8385-C1D3-4C5D413CD9D3}" v="1" dt="2026-04-30T16:07:30.646"/>
    <p1510:client id="{BE310F8C-80EC-F427-90E5-FA4B17BEAC45}" v="37" dt="2026-04-30T19:42:36.409"/>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slideViewPr>
    <p:cSldViewPr snapToGrid="0">
      <p:cViewPr varScale="1">
        <p:scale>
          <a:sx n="100" d="100"/>
          <a:sy n="100" d="100"/>
        </p:scale>
        <p:origin x="0" y="0"/>
      </p:cViewPr>
      <p:guideLst>
        <p:guide orient="horz" pos="1620"/>
        <p:guide pos="2880"/>
      </p:guideLst>
    </p:cSldViewPr>
  </p:slide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8/10/relationships/authors" Target="authors.xml"/><Relationship Id="rId21" Type="http://schemas.openxmlformats.org/officeDocument/2006/relationships/slide" Target="slides/slide20.xml"/><Relationship Id="rId34"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6.fntdata"/><Relationship Id="rId38" Type="http://schemas.microsoft.com/office/2015/10/relationships/revisionInfo" Target="revisionInfo.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2.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5.fntdata"/><Relationship Id="rId37"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font" Target="fonts/font1.fntdata"/><Relationship Id="rId36"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4.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3.fntdata"/><Relationship Id="rId35" Type="http://schemas.openxmlformats.org/officeDocument/2006/relationships/viewProps" Target="viewProps.xml"/><Relationship Id="rId8" Type="http://schemas.openxmlformats.org/officeDocument/2006/relationships/slide" Target="slides/slide7.xml"/><Relationship Id="rId3" Type="http://schemas.openxmlformats.org/officeDocument/2006/relationships/slide" Target="slides/slide2.xml"/></Relationships>
</file>

<file path=ppt/comments/modernComment_10A_1B3A1ED7.xml><?xml version="1.0" encoding="utf-8"?>
<p188:cmLst xmlns:a="http://schemas.openxmlformats.org/drawingml/2006/main" xmlns:r="http://schemas.openxmlformats.org/officeDocument/2006/relationships" xmlns:p188="http://schemas.microsoft.com/office/powerpoint/2018/8/main">
  <p188:cm id="{1928E278-4596-4616-AD91-C633495C9D0F}" authorId="{1851B7A5-912D-2709-BF5B-63C07128C910}" created="2026-02-11T10:31:29.837">
    <pc:sldMkLst xmlns:pc="http://schemas.microsoft.com/office/powerpoint/2013/main/command">
      <pc:docMk/>
      <pc:sldMk cId="0" sldId="257"/>
    </pc:sldMkLst>
    <p188:txBody>
      <a:bodyPr/>
      <a:lstStyle/>
      <a:p>
        <a:r>
          <a:rPr lang="hu-HU"/>
          <a:t>WHY would you choose carcomps, because We deliver our website with modern and unique webdesign (like user profile payment page) with secure servers, modern infrastructures and scaleable database. These lead to a User Friendly experience. The team is very excited and well prepared, hope you Will enjoy our presentation about CarComps.</a:t>
        </a:r>
      </a:p>
    </p188:txBody>
  </p188:cm>
</p188:cmLst>
</file>

<file path=ppt/comments/modernComment_10B_8D4715EF.xml><?xml version="1.0" encoding="utf-8"?>
<p188:cmLst xmlns:a="http://schemas.openxmlformats.org/drawingml/2006/main" xmlns:r="http://schemas.openxmlformats.org/officeDocument/2006/relationships" xmlns:p188="http://schemas.microsoft.com/office/powerpoint/2018/8/main">
  <p188:cm id="{96FA8BCC-D354-4386-8F09-414247A26A62}" authorId="{1851B7A5-912D-2709-BF5B-63C07128C910}" created="2026-02-11T10:31:29.837">
    <pc:sldMkLst xmlns:pc="http://schemas.microsoft.com/office/powerpoint/2013/main/command">
      <pc:docMk/>
      <pc:sldMk cId="0" sldId="257"/>
    </pc:sldMkLst>
    <p188:txBody>
      <a:bodyPr/>
      <a:lstStyle/>
      <a:p>
        <a:r>
          <a:rPr lang="hu-HU"/>
          <a:t>WHY would you choose carcomps, because We deliver our website with modern and unique webdesign (like user profile payment page) with secure servers, modern infrastructures and scaleable database. These lead to a User Friendly experience. The team is very excited and well prepared, hope you Will enjoy our presentation about CarComps.</a:t>
        </a:r>
      </a:p>
    </p188:txBody>
  </p188:cm>
</p188:cmLst>
</file>

<file path=ppt/comments/modernComment_10E_DEF6B9B1.xml><?xml version="1.0" encoding="utf-8"?>
<p188:cmLst xmlns:a="http://schemas.openxmlformats.org/drawingml/2006/main" xmlns:r="http://schemas.openxmlformats.org/officeDocument/2006/relationships" xmlns:p188="http://schemas.microsoft.com/office/powerpoint/2018/8/main">
  <p188:cm id="{3C0309DE-C56C-41AB-A08F-D1515631D744}" authorId="{1851B7A5-912D-2709-BF5B-63C07128C910}" created="2026-02-11T10:31:29.837">
    <pc:sldMkLst xmlns:pc="http://schemas.microsoft.com/office/powerpoint/2013/main/command">
      <pc:docMk/>
      <pc:sldMk cId="0" sldId="257"/>
    </pc:sldMkLst>
    <p188:txBody>
      <a:bodyPr/>
      <a:lstStyle/>
      <a:p>
        <a:r>
          <a:rPr lang="hu-HU"/>
          <a:t>WHY would you choose carcomps, because We deliver our website with modern and unique webdesign (like user profile payment page) with secure servers, modern infrastructures and scaleable database. These lead to a User Friendly experience. The team is very excited and well prepared, hope you Will enjoy our presentation about CarComps.</a:t>
        </a:r>
      </a:p>
    </p188:txBody>
  </p188:cm>
</p188:cmLst>
</file>

<file path=ppt/comments/modernComment_10F_AE160D34.xml><?xml version="1.0" encoding="utf-8"?>
<p188:cmLst xmlns:a="http://schemas.openxmlformats.org/drawingml/2006/main" xmlns:r="http://schemas.openxmlformats.org/officeDocument/2006/relationships" xmlns:p188="http://schemas.microsoft.com/office/powerpoint/2018/8/main">
  <p188:cm id="{DEEC4AF4-7B77-4CC5-ACE6-7E4DE203E77A}" authorId="{1851B7A5-912D-2709-BF5B-63C07128C910}" created="2026-02-11T10:31:29.837">
    <pc:sldMkLst xmlns:pc="http://schemas.microsoft.com/office/powerpoint/2013/main/command">
      <pc:docMk/>
      <pc:sldMk cId="0" sldId="257"/>
    </pc:sldMkLst>
    <p188:txBody>
      <a:bodyPr/>
      <a:lstStyle/>
      <a:p>
        <a:r>
          <a:rPr lang="hu-HU"/>
          <a:t>WHY would you choose carcomps, because We deliver our website with modern and unique webdesign (like user profile payment page) with secure servers, modern infrastructures and scaleable database. These lead to a User Friendly experience. The team is very excited and well prepared, hope you Will enjoy our presentation about CarComps.</a:t>
        </a:r>
      </a:p>
    </p188:txBody>
  </p188:cm>
</p188:cmLst>
</file>

<file path=ppt/comments/modernComment_11A_A26FCB50.xml><?xml version="1.0" encoding="utf-8"?>
<p188:cmLst xmlns:a="http://schemas.openxmlformats.org/drawingml/2006/main" xmlns:r="http://schemas.openxmlformats.org/officeDocument/2006/relationships" xmlns:p188="http://schemas.microsoft.com/office/powerpoint/2018/8/main">
  <p188:cm id="{DE20822A-26EE-49AC-BC67-4CBC992580C7}" authorId="{1851B7A5-912D-2709-BF5B-63C07128C910}" created="2026-02-11T10:31:29.837">
    <pc:sldMkLst xmlns:pc="http://schemas.microsoft.com/office/powerpoint/2013/main/command">
      <pc:docMk/>
      <pc:sldMk cId="0" sldId="257"/>
    </pc:sldMkLst>
    <p188:txBody>
      <a:bodyPr/>
      <a:lstStyle/>
      <a:p>
        <a:r>
          <a:rPr lang="hu-HU"/>
          <a:t>WHY would you choose carcomps, because We deliver our website with modern and unique webdesign (like user profile payment page) with secure servers, modern infrastructures and scaleable database. These lead to a User Friendly experience. The team is very excited and well prepared, hope you Will enjoy our presentation about CarComps.</a:t>
        </a:r>
      </a:p>
    </p188:txBody>
  </p188:cm>
</p188:cmLst>
</file>

<file path=ppt/comments/modernComment_101_0.xml><?xml version="1.0" encoding="utf-8"?>
<p188:cmLst xmlns:a="http://schemas.openxmlformats.org/drawingml/2006/main" xmlns:r="http://schemas.openxmlformats.org/officeDocument/2006/relationships" xmlns:p188="http://schemas.microsoft.com/office/powerpoint/2018/8/main">
  <p188:cm id="{007AC727-AD8F-499B-B339-171989C8F2C8}" authorId="{1851B7A5-912D-2709-BF5B-63C07128C910}" created="2026-02-11T10:31:29.837">
    <pc:sldMkLst xmlns:pc="http://schemas.microsoft.com/office/powerpoint/2013/main/command">
      <pc:docMk/>
      <pc:sldMk cId="0" sldId="257"/>
    </pc:sldMkLst>
    <p188:txBody>
      <a:bodyPr/>
      <a:lstStyle/>
      <a:p>
        <a:r>
          <a:rPr lang="hu-HU"/>
          <a:t>CarComps is an online marketplace where you can buy various vehicle parts for cars, motorcycles and trucks.</a:t>
        </a:r>
      </a:p>
    </p188:txBody>
  </p188:cm>
</p188:cmLst>
</file>

<file path=ppt/comments/modernComment_104_BAD6966C.xml><?xml version="1.0" encoding="utf-8"?>
<p188:cmLst xmlns:a="http://schemas.openxmlformats.org/drawingml/2006/main" xmlns:r="http://schemas.openxmlformats.org/officeDocument/2006/relationships" xmlns:p188="http://schemas.microsoft.com/office/powerpoint/2018/8/main">
  <p188:cm id="{8575FBB0-170F-4E04-93AE-5D1C9DD9A9EB}" authorId="{1851B7A5-912D-2709-BF5B-63C07128C910}" created="2026-02-11T10:31:29.837">
    <pc:sldMkLst xmlns:pc="http://schemas.microsoft.com/office/powerpoint/2013/main/command">
      <pc:docMk/>
      <pc:sldMk cId="0" sldId="257"/>
    </pc:sldMkLst>
    <p188:txBody>
      <a:bodyPr/>
      <a:lstStyle/>
      <a:p>
        <a:r>
          <a:rPr lang="hu-HU"/>
          <a:t>WHY would you choose carcomps, because We deliver our website with modern and unique webdesign (like user profile payment page) with secure servers, modern infrastructures and scaleable database. These lead to a User Friendly experience. The team is very excited and well prepared, hope you Will enjoy our presentation about CarComps.</a:t>
        </a:r>
      </a:p>
    </p188:txBody>
  </p188:cm>
</p188:cmLst>
</file>

<file path=ppt/comments/modernComment_106_420E119A.xml><?xml version="1.0" encoding="utf-8"?>
<p188:cmLst xmlns:a="http://schemas.openxmlformats.org/drawingml/2006/main" xmlns:r="http://schemas.openxmlformats.org/officeDocument/2006/relationships" xmlns:p188="http://schemas.microsoft.com/office/powerpoint/2018/8/main">
  <p188:cm id="{E8145968-6FD1-4758-9A5D-34C5BF89F7C2}" authorId="{1851B7A5-912D-2709-BF5B-63C07128C910}" created="2026-02-11T10:31:29.837">
    <pc:sldMkLst xmlns:pc="http://schemas.microsoft.com/office/powerpoint/2013/main/command">
      <pc:docMk/>
      <pc:sldMk cId="0" sldId="257"/>
    </pc:sldMkLst>
    <p188:txBody>
      <a:bodyPr/>
      <a:lstStyle/>
      <a:p>
        <a:r>
          <a:rPr lang="hu-HU"/>
          <a:t>WHY would you choose carcomps, because We deliver our website with modern and unique webdesign (like user profile payment page) with secure servers, modern infrastructures and scaleable database. These lead to a User Friendly experience. The team is very excited and well prepared, hope you Will enjoy our presentation about CarComps.</a:t>
        </a:r>
      </a:p>
    </p188:txBody>
  </p188:cm>
</p188:cmLst>
</file>

<file path=ppt/comments/modernComment_107_6F78E53D.xml><?xml version="1.0" encoding="utf-8"?>
<p188:cmLst xmlns:a="http://schemas.openxmlformats.org/drawingml/2006/main" xmlns:r="http://schemas.openxmlformats.org/officeDocument/2006/relationships" xmlns:p188="http://schemas.microsoft.com/office/powerpoint/2018/8/main">
  <p188:cm id="{134E8D93-87D0-4041-8F67-7117E77846EA}" authorId="{1851B7A5-912D-2709-BF5B-63C07128C910}" created="2026-02-11T10:31:29.837">
    <pc:sldMkLst xmlns:pc="http://schemas.microsoft.com/office/powerpoint/2013/main/command">
      <pc:docMk/>
      <pc:sldMk cId="0" sldId="257"/>
    </pc:sldMkLst>
    <p188:txBody>
      <a:bodyPr/>
      <a:lstStyle/>
      <a:p>
        <a:r>
          <a:rPr lang="hu-HU"/>
          <a:t>WHY would you choose carcomps, because We deliver our website with modern and unique webdesign (like user profile payment page) with secure servers, modern infrastructures and scaleable database. These lead to a User Friendly experience. The team is very excited and well prepared, hope you Will enjoy our presentation about CarComps.</a:t>
        </a:r>
      </a:p>
    </p188:txBody>
  </p188:cm>
</p188:cmLst>
</file>

<file path=ppt/comments/modernComment_108_8A2D32FE.xml><?xml version="1.0" encoding="utf-8"?>
<p188:cmLst xmlns:a="http://schemas.openxmlformats.org/drawingml/2006/main" xmlns:r="http://schemas.openxmlformats.org/officeDocument/2006/relationships" xmlns:p188="http://schemas.microsoft.com/office/powerpoint/2018/8/main">
  <p188:cm id="{2BBA6055-F390-4508-A70D-73D44F7F5B18}" authorId="{1851B7A5-912D-2709-BF5B-63C07128C910}" created="2026-02-11T10:31:29.837">
    <pc:sldMkLst xmlns:pc="http://schemas.microsoft.com/office/powerpoint/2013/main/command">
      <pc:docMk/>
      <pc:sldMk cId="0" sldId="257"/>
    </pc:sldMkLst>
    <p188:txBody>
      <a:bodyPr/>
      <a:lstStyle/>
      <a:p>
        <a:r>
          <a:rPr lang="hu-HU"/>
          <a:t>WHY would you choose carcomps, because We deliver our website with modern and unique webdesign (like user profile payment page) with secure servers, modern infrastructures and scaleable database. These lead to a User Friendly experience. The team is very excited and well prepared, hope you Will enjoy our presentation about CarComps.</a:t>
        </a:r>
      </a:p>
    </p188:txBody>
  </p188:cm>
</p188:cmLst>
</file>

<file path=ppt/comments/modernComment_109_F722F283.xml><?xml version="1.0" encoding="utf-8"?>
<p188:cmLst xmlns:a="http://schemas.openxmlformats.org/drawingml/2006/main" xmlns:r="http://schemas.openxmlformats.org/officeDocument/2006/relationships" xmlns:p188="http://schemas.microsoft.com/office/powerpoint/2018/8/main">
  <p188:cm id="{787E01AC-EF17-4C17-93D7-A2FE14BB9217}" authorId="{1851B7A5-912D-2709-BF5B-63C07128C910}" created="2026-02-11T10:31:29.837">
    <pc:sldMkLst xmlns:pc="http://schemas.microsoft.com/office/powerpoint/2013/main/command">
      <pc:docMk/>
      <pc:sldMk cId="0" sldId="257"/>
    </pc:sldMkLst>
    <p188:txBody>
      <a:bodyPr/>
      <a:lstStyle/>
      <a:p>
        <a:r>
          <a:rPr lang="hu-HU"/>
          <a:t>WHY would you choose carcomps, because We deliver our website with modern and unique webdesign (like user profile payment page) with secure servers, modern infrastructures and scaleable database. These lead to a User Friendly experience. The team is very excited and well prepared, hope you Will enjoy our presentation about CarComps.</a:t>
        </a:r>
      </a:p>
    </p188:txBody>
  </p188:cm>
</p188:cmLst>
</file>

<file path=ppt/comments/modernComment_110_274BDCBB.xml><?xml version="1.0" encoding="utf-8"?>
<p188:cmLst xmlns:a="http://schemas.openxmlformats.org/drawingml/2006/main" xmlns:r="http://schemas.openxmlformats.org/officeDocument/2006/relationships" xmlns:p188="http://schemas.microsoft.com/office/powerpoint/2018/8/main">
  <p188:cm id="{E8A24C1D-E04D-42CD-B3FD-B23BBB5EADEC}" authorId="{1851B7A5-912D-2709-BF5B-63C07128C910}" created="2026-02-11T10:31:29.837">
    <pc:sldMkLst xmlns:pc="http://schemas.microsoft.com/office/powerpoint/2013/main/command">
      <pc:docMk/>
      <pc:sldMk cId="0" sldId="257"/>
    </pc:sldMkLst>
    <p188:txBody>
      <a:bodyPr/>
      <a:lstStyle/>
      <a:p>
        <a:r>
          <a:rPr lang="hu-HU"/>
          <a:t>WHY would you choose carcomps, because We deliver our website with modern and unique webdesign (like user profile payment page) with secure servers, modern infrastructures and scaleable database. These lead to a User Friendly experience. The team is very excited and well prepared, hope you Will enjoy our presentation about CarComps.</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p:cNvGrpSpPr/>
        <p:nvPr/>
      </p:nvGrpSpPr>
      <p:grpSpPr>
        <a:xfrm>
          <a:off x="0" y="0"/>
          <a:ext cx="0" cy="0"/>
          <a:chOff x="0" y="0"/>
          <a:chExt cx="0" cy="0"/>
        </a:xfrm>
      </p:grpSpPr>
      <p:sp>
        <p:nvSpPr>
          <p:cNvPr id="51" name="Google Shape;51;p:notes"/>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 Let us introduce carcomps! made by Nebl Gergő (Database) , Kis-Borbás Dorián Zsolt (Backend), Mészáros Roland (PM, Frontend).</a:t>
            </a:r>
            <a:endParaRPr lang="hu-HU" dirty="0"/>
          </a:p>
          <a:p>
            <a:pPr marL="0" lvl="0" indent="0" algn="l">
              <a:spcBef>
                <a:spcPts val="0"/>
              </a:spcBef>
              <a:spcAft>
                <a:spcPts val="0"/>
              </a:spcAft>
              <a:buNone/>
            </a:pPr>
            <a:endParaRPr dirty="0"/>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B69101A2-D3C5-F6EF-EC05-BAFFADF5BF9A}"/>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AD65CCA3-3D04-E03F-03DE-97130B5CCC9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6FE6233B-7701-F54F-A06E-E3F8888A3F2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 Let us introduce carcomps! made by Nebl Gergő (Database) , Kis-Borbás Dorián Zsolt (Backend), Mészáros Roland (PM, Frontend).</a:t>
            </a:r>
            <a:endParaRPr lang="hu-HU" dirty="0"/>
          </a:p>
          <a:p>
            <a:pPr marL="0" lvl="0" indent="0" algn="l">
              <a:spcBef>
                <a:spcPts val="0"/>
              </a:spcBef>
              <a:spcAft>
                <a:spcPts val="0"/>
              </a:spcAft>
              <a:buNone/>
            </a:pPr>
            <a:endParaRPr dirty="0"/>
          </a:p>
        </p:txBody>
      </p:sp>
    </p:spTree>
    <p:extLst>
      <p:ext uri="{BB962C8B-B14F-4D97-AF65-F5344CB8AC3E}">
        <p14:creationId xmlns:p14="http://schemas.microsoft.com/office/powerpoint/2010/main" val="333671429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0">
          <a:extLst>
            <a:ext uri="{FF2B5EF4-FFF2-40B4-BE49-F238E27FC236}">
              <a16:creationId xmlns:a16="http://schemas.microsoft.com/office/drawing/2014/main" id="{9AC5311B-4AB7-F3DC-D375-7F8A81EEC0E0}"/>
            </a:ext>
          </a:extLst>
        </p:cNvPr>
        <p:cNvGrpSpPr/>
        <p:nvPr/>
      </p:nvGrpSpPr>
      <p:grpSpPr>
        <a:xfrm>
          <a:off x="0" y="0"/>
          <a:ext cx="0" cy="0"/>
          <a:chOff x="0" y="0"/>
          <a:chExt cx="0" cy="0"/>
        </a:xfrm>
      </p:grpSpPr>
      <p:sp>
        <p:nvSpPr>
          <p:cNvPr id="51" name="Google Shape;51;p:notes">
            <a:extLst>
              <a:ext uri="{FF2B5EF4-FFF2-40B4-BE49-F238E27FC236}">
                <a16:creationId xmlns:a16="http://schemas.microsoft.com/office/drawing/2014/main" id="{4E871755-5A54-82EA-FCDE-4A6A9C2D378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2" name="Google Shape;52;p:notes">
            <a:extLst>
              <a:ext uri="{FF2B5EF4-FFF2-40B4-BE49-F238E27FC236}">
                <a16:creationId xmlns:a16="http://schemas.microsoft.com/office/drawing/2014/main" id="{D1A8A2E1-E2C2-12A6-8E74-FE0DF0099DC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 Let us introduce carcomps! made by Nebl Gergő (Database) , Kis-Borbás Dorián Zsolt (Backend), Mészáros Roland (PM, Frontend).</a:t>
            </a:r>
            <a:endParaRPr lang="hu-HU" dirty="0"/>
          </a:p>
          <a:p>
            <a:pPr marL="0" lvl="0" indent="0" algn="l">
              <a:spcBef>
                <a:spcPts val="0"/>
              </a:spcBef>
              <a:spcAft>
                <a:spcPts val="0"/>
              </a:spcAft>
              <a:buNone/>
            </a:pPr>
            <a:endParaRPr dirty="0"/>
          </a:p>
        </p:txBody>
      </p:sp>
    </p:spTree>
    <p:extLst>
      <p:ext uri="{BB962C8B-B14F-4D97-AF65-F5344CB8AC3E}">
        <p14:creationId xmlns:p14="http://schemas.microsoft.com/office/powerpoint/2010/main" val="295315939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p:cNvGrpSpPr/>
        <p:nvPr/>
      </p:nvGrpSpPr>
      <p:grpSpPr>
        <a:xfrm>
          <a:off x="0" y="0"/>
          <a:ext cx="0" cy="0"/>
          <a:chOff x="0" y="0"/>
          <a:chExt cx="0" cy="0"/>
        </a:xfrm>
      </p:grpSpPr>
      <p:sp>
        <p:nvSpPr>
          <p:cNvPr id="57" name="Google Shape;57;g3b4fd9135da_1_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err="1"/>
              <a:t>CarComps</a:t>
            </a:r>
            <a:r>
              <a:rPr lang="en-US" dirty="0"/>
              <a:t> is an online marketplace where you can buy various vehicle parts for cars, motorcycles and trucks.</a:t>
            </a:r>
            <a:endParaRPr lang="hu-HU" dirty="0"/>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EDB5043E-520A-03D7-493E-D164170CBF3C}"/>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EC1F6C4C-BDAA-92DF-AD61-BA35EB7231A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A61B6405-ABDF-7A04-6B90-08ECCDDDB81C}"/>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WHY would you choose carcomps, because We deliver our website with modern and unique webdesign (like user profile payment page) with secure servers, modern infrastructures and scaleable database. These lead to a User Friendly experience. The team is very excited and well prepared, hope you Will enjoy our presentation about CarComps.</a:t>
            </a:r>
            <a:endParaRPr lang="hu-HU"/>
          </a:p>
          <a:p>
            <a:pPr marL="0" lvl="0" indent="0" algn="l">
              <a:spcBef>
                <a:spcPts val="0"/>
              </a:spcBef>
              <a:spcAft>
                <a:spcPts val="0"/>
              </a:spcAft>
              <a:buNone/>
            </a:pPr>
            <a:endParaRPr dirty="0"/>
          </a:p>
        </p:txBody>
      </p:sp>
    </p:spTree>
    <p:extLst>
      <p:ext uri="{BB962C8B-B14F-4D97-AF65-F5344CB8AC3E}">
        <p14:creationId xmlns:p14="http://schemas.microsoft.com/office/powerpoint/2010/main" val="11752775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65CC42DF-1174-BBC2-D5B2-1993E2C41B04}"/>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951A332D-66B2-276B-D320-05B20E5225F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7286882B-A2A6-8B65-3FD9-C13ADD53F196}"/>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hu-HU" dirty="0" err="1"/>
              <a:t>We</a:t>
            </a:r>
            <a:r>
              <a:rPr lang="hu-HU" dirty="0"/>
              <a:t> </a:t>
            </a:r>
            <a:r>
              <a:rPr lang="hu-HU" dirty="0" err="1"/>
              <a:t>built</a:t>
            </a:r>
            <a:r>
              <a:rPr lang="hu-HU" dirty="0"/>
              <a:t> </a:t>
            </a:r>
            <a:r>
              <a:rPr lang="hu-HU" dirty="0" err="1"/>
              <a:t>carcomps</a:t>
            </a:r>
            <a:r>
              <a:rPr lang="hu-HU" dirty="0"/>
              <a:t> </a:t>
            </a:r>
            <a:r>
              <a:rPr lang="hu-HU" dirty="0" err="1"/>
              <a:t>with</a:t>
            </a:r>
            <a:r>
              <a:rPr lang="hu-HU" dirty="0"/>
              <a:t> </a:t>
            </a:r>
            <a:r>
              <a:rPr lang="hu-HU" dirty="0" err="1"/>
              <a:t>webbapp</a:t>
            </a:r>
            <a:r>
              <a:rPr lang="hu-HU" dirty="0"/>
              <a:t> </a:t>
            </a:r>
            <a:r>
              <a:rPr lang="hu-HU" dirty="0" err="1"/>
              <a:t>architecture</a:t>
            </a:r>
            <a:r>
              <a:rPr lang="hu-HU" dirty="0"/>
              <a:t>. </a:t>
            </a:r>
            <a:r>
              <a:rPr lang="hu-HU" dirty="0" err="1"/>
              <a:t>So</a:t>
            </a:r>
            <a:r>
              <a:rPr lang="hu-HU" dirty="0"/>
              <a:t> </a:t>
            </a:r>
            <a:r>
              <a:rPr lang="hu-HU" dirty="0" err="1"/>
              <a:t>we</a:t>
            </a:r>
            <a:r>
              <a:rPr lang="hu-HU" dirty="0"/>
              <a:t> </a:t>
            </a:r>
            <a:r>
              <a:rPr lang="hu-HU" dirty="0" err="1"/>
              <a:t>used</a:t>
            </a:r>
            <a:r>
              <a:rPr lang="hu-HU" dirty="0"/>
              <a:t> </a:t>
            </a:r>
            <a:r>
              <a:rPr lang="hu-HU" dirty="0" err="1"/>
              <a:t>the</a:t>
            </a:r>
            <a:r>
              <a:rPr lang="hu-HU" dirty="0"/>
              <a:t> </a:t>
            </a:r>
            <a:r>
              <a:rPr lang="hu-HU" dirty="0" err="1"/>
              <a:t>following</a:t>
            </a:r>
            <a:r>
              <a:rPr lang="hu-HU" dirty="0"/>
              <a:t> </a:t>
            </a:r>
            <a:r>
              <a:rPr lang="hu-HU" dirty="0" err="1"/>
              <a:t>developer</a:t>
            </a:r>
            <a:r>
              <a:rPr lang="hu-HU" dirty="0"/>
              <a:t> </a:t>
            </a:r>
            <a:r>
              <a:rPr lang="hu-HU" dirty="0" err="1"/>
              <a:t>areas</a:t>
            </a:r>
            <a:r>
              <a:rPr lang="hu-HU" dirty="0"/>
              <a:t>.</a:t>
            </a:r>
          </a:p>
        </p:txBody>
      </p:sp>
    </p:spTree>
    <p:extLst>
      <p:ext uri="{BB962C8B-B14F-4D97-AF65-F5344CB8AC3E}">
        <p14:creationId xmlns:p14="http://schemas.microsoft.com/office/powerpoint/2010/main" val="412521141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7C7F5098-CA20-084C-6842-FE20CAEBDC54}"/>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2E4A40D5-7D84-8BBE-8A62-36350C2E293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4D239109-FCAD-CE71-B098-68864919F17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Database - What was my part in the project?</a:t>
            </a:r>
            <a:endParaRPr lang="hu-HU"/>
          </a:p>
          <a:p>
            <a:pPr marL="0" indent="0">
              <a:buNone/>
            </a:pPr>
            <a:r>
              <a:rPr lang="en-US" dirty="0"/>
              <a:t>My primary responsibility was designing and implementing the entire database architecture for our </a:t>
            </a:r>
            <a:r>
              <a:rPr lang="en-US" dirty="0" err="1"/>
              <a:t>webshop</a:t>
            </a:r>
            <a:r>
              <a:rPr lang="en-US" dirty="0"/>
              <a:t>. I focused on creating a robust, scalable, and production-ready database that handles complex business logic while ensuring data integrity and security.</a:t>
            </a:r>
            <a:endParaRPr dirty="0"/>
          </a:p>
        </p:txBody>
      </p:sp>
    </p:spTree>
    <p:extLst>
      <p:ext uri="{BB962C8B-B14F-4D97-AF65-F5344CB8AC3E}">
        <p14:creationId xmlns:p14="http://schemas.microsoft.com/office/powerpoint/2010/main" val="34344868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2ECB3E46-5818-7A4C-028E-71B335F89DE5}"/>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98C2D0BF-8027-A1F3-1EBA-F478384820A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FA2B72FD-D9C0-3683-3B71-09DB450EF9A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At first </a:t>
            </a:r>
            <a:r>
              <a:rPr lang="en-US" dirty="0" err="1"/>
              <a:t>i</a:t>
            </a:r>
            <a:r>
              <a:rPr lang="en-US" dirty="0"/>
              <a:t> used an older version of MYSQL then later </a:t>
            </a:r>
            <a:r>
              <a:rPr lang="en-US" dirty="0" err="1"/>
              <a:t>i</a:t>
            </a:r>
            <a:r>
              <a:rPr lang="en-US" dirty="0"/>
              <a:t> upgraded to a more modern version because it's more reliable and widely supported. I implemented business logic through stored procedures rather than putting everything in the backend code.</a:t>
            </a:r>
            <a:br>
              <a:rPr lang="en-US" dirty="0"/>
            </a:br>
            <a:br>
              <a:rPr lang="en-US" dirty="0"/>
            </a:br>
            <a:r>
              <a:rPr lang="en-US" dirty="0"/>
              <a:t>Stored Procedures: I built all CRUD operations and complex business logic as stored procedures. It was challenging to master transaction management and concurrency control, this makes operations like order processing much safer with either everything succeeds or nothing does.</a:t>
            </a:r>
          </a:p>
          <a:p>
            <a:pPr>
              <a:buNone/>
            </a:pPr>
            <a:r>
              <a:rPr lang="en-US" dirty="0"/>
              <a:t> </a:t>
            </a:r>
          </a:p>
          <a:p>
            <a:pPr marL="0" indent="0">
              <a:buNone/>
            </a:pPr>
            <a:r>
              <a:rPr lang="en-US" dirty="0"/>
              <a:t>Concurrency Control: I implemented FOR UPDATE row-level locking to prevent overselling. This was important(crucial), without it, two customers could buy the same last item at the same time. The database now locks rows during stock checks to ensure only one transaction succeeds with the help of FOR UPDATE</a:t>
            </a:r>
          </a:p>
        </p:txBody>
      </p:sp>
    </p:spTree>
    <p:extLst>
      <p:ext uri="{BB962C8B-B14F-4D97-AF65-F5344CB8AC3E}">
        <p14:creationId xmlns:p14="http://schemas.microsoft.com/office/powerpoint/2010/main" val="415385772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03C89450-18ED-BF10-1BE1-85AD4B48514F}"/>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8C0B2BEC-BB66-1ED0-77D7-D0AC5EAB987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32E7BCDA-1C59-F187-46E4-B1288941374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DB DIAGRAM: When we planned the database, </a:t>
            </a:r>
            <a:r>
              <a:rPr lang="en-US" dirty="0" err="1"/>
              <a:t>i</a:t>
            </a:r>
            <a:r>
              <a:rPr lang="en-US" dirty="0"/>
              <a:t> used DB Diagram to </a:t>
            </a:r>
            <a:r>
              <a:rPr lang="en-US" dirty="0" err="1"/>
              <a:t>visualise</a:t>
            </a:r>
            <a:r>
              <a:rPr lang="en-US" dirty="0"/>
              <a:t> our database structure and the tables connections with </a:t>
            </a:r>
            <a:r>
              <a:rPr lang="en-US" dirty="0" err="1"/>
              <a:t>eachother</a:t>
            </a:r>
            <a:r>
              <a:rPr lang="en-US" dirty="0"/>
              <a:t>, </a:t>
            </a:r>
            <a:r>
              <a:rPr lang="en-US" dirty="0" err="1"/>
              <a:t>i</a:t>
            </a:r>
            <a:r>
              <a:rPr lang="en-US" dirty="0"/>
              <a:t> decided to use DB Diagram because it's (simple to use and the visual diagram made it easier for me to understand the database and how to build out our database). In the end we created x tables with y procedures.</a:t>
            </a:r>
            <a:endParaRPr lang="hu-HU" dirty="0"/>
          </a:p>
        </p:txBody>
      </p:sp>
    </p:spTree>
    <p:extLst>
      <p:ext uri="{BB962C8B-B14F-4D97-AF65-F5344CB8AC3E}">
        <p14:creationId xmlns:p14="http://schemas.microsoft.com/office/powerpoint/2010/main" val="237476886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1E9EF322-4C2A-4F2B-7A4F-C348207AC529}"/>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0A395309-AA49-642F-4FF9-277676012D3F}"/>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F3DBBEE1-8F6E-94F2-D0A3-986C3EAF49B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DB DIAGRAM: When we planned the database, </a:t>
            </a:r>
            <a:r>
              <a:rPr lang="en-US" dirty="0" err="1"/>
              <a:t>i</a:t>
            </a:r>
            <a:r>
              <a:rPr lang="en-US" dirty="0"/>
              <a:t> used DB Diagram to </a:t>
            </a:r>
            <a:r>
              <a:rPr lang="en-US" dirty="0" err="1"/>
              <a:t>visualise</a:t>
            </a:r>
            <a:r>
              <a:rPr lang="en-US" dirty="0"/>
              <a:t> our database structure and the tables connections with </a:t>
            </a:r>
            <a:r>
              <a:rPr lang="en-US" dirty="0" err="1"/>
              <a:t>eachother</a:t>
            </a:r>
            <a:r>
              <a:rPr lang="en-US" dirty="0"/>
              <a:t>, </a:t>
            </a:r>
            <a:r>
              <a:rPr lang="en-US" dirty="0" err="1"/>
              <a:t>i</a:t>
            </a:r>
            <a:r>
              <a:rPr lang="en-US" dirty="0"/>
              <a:t> decided to use DB Diagram because it's (simple to use and the visual diagram made it easier for me to understand the database and how to build out our database). In the end we created x tables with y procedures.</a:t>
            </a:r>
            <a:endParaRPr lang="hu-HU" dirty="0"/>
          </a:p>
        </p:txBody>
      </p:sp>
    </p:spTree>
    <p:extLst>
      <p:ext uri="{BB962C8B-B14F-4D97-AF65-F5344CB8AC3E}">
        <p14:creationId xmlns:p14="http://schemas.microsoft.com/office/powerpoint/2010/main" val="414267892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F26D9C18-EAED-60A2-9288-BE59C62C2BB7}"/>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58135B39-E67F-CA7C-9486-1A46056596B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E0A7BD9B-BD7E-23F5-9A0E-992E6795FB6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backend: </a:t>
            </a:r>
            <a:r>
              <a:rPr lang="en-US" dirty="0" err="1"/>
              <a:t>i</a:t>
            </a:r>
            <a:r>
              <a:rPr lang="en-US" dirty="0"/>
              <a:t> was responsible for the </a:t>
            </a:r>
            <a:r>
              <a:rPr lang="en-US" dirty="0" err="1"/>
              <a:t>funcionality</a:t>
            </a:r>
            <a:r>
              <a:rPr lang="en-US" dirty="0"/>
              <a:t> of the website.</a:t>
            </a:r>
            <a:endParaRPr lang="hu-HU" dirty="0"/>
          </a:p>
        </p:txBody>
      </p:sp>
    </p:spTree>
    <p:extLst>
      <p:ext uri="{BB962C8B-B14F-4D97-AF65-F5344CB8AC3E}">
        <p14:creationId xmlns:p14="http://schemas.microsoft.com/office/powerpoint/2010/main" val="327931326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1BFABC3D-879C-D681-83D6-3978E853429D}"/>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C7F0B180-58E7-E0D3-14FA-8C9CA735D23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EBFEBA7D-2DC6-2006-1A88-E294E4616D6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I made the backend code in java with help from Gergő. Together we wrote over 30k lines of code. We used java because we wanted to learn a new language besides c# and python.</a:t>
            </a:r>
            <a:endParaRPr lang="hu-HU"/>
          </a:p>
          <a:p>
            <a:pPr>
              <a:buNone/>
            </a:pPr>
            <a:r>
              <a:rPr lang="en-US"/>
              <a:t>:D</a:t>
            </a:r>
          </a:p>
          <a:p>
            <a:pPr>
              <a:buNone/>
            </a:pPr>
            <a:r>
              <a:rPr lang="en-US" dirty="0"/>
              <a:t>I also handled the server and deployment setup using Cloudflare, </a:t>
            </a:r>
            <a:r>
              <a:rPr lang="en-US" dirty="0" err="1"/>
              <a:t>i</a:t>
            </a:r>
            <a:r>
              <a:rPr lang="en-US" dirty="0"/>
              <a:t> used Cloudflare because its free and easy to use.</a:t>
            </a:r>
          </a:p>
          <a:p>
            <a:pPr>
              <a:buNone/>
            </a:pPr>
            <a:r>
              <a:rPr lang="en-US" dirty="0"/>
              <a:t> </a:t>
            </a:r>
          </a:p>
          <a:p>
            <a:pPr>
              <a:buNone/>
            </a:pPr>
            <a:r>
              <a:rPr lang="en-US" dirty="0"/>
              <a:t>I was also tasked with configuring the Cloudflare Tunnel, which securely connected the website to my laptop, as well as setting up and managing the custom domain.</a:t>
            </a:r>
          </a:p>
          <a:p>
            <a:pPr>
              <a:buNone/>
            </a:pPr>
            <a:r>
              <a:rPr lang="en-US" dirty="0"/>
              <a:t> </a:t>
            </a:r>
          </a:p>
          <a:p>
            <a:pPr>
              <a:buNone/>
            </a:pPr>
            <a:r>
              <a:rPr lang="en-US" dirty="0"/>
              <a:t>Beyond the backend and infrastructure, I contributed to several supporting areas:</a:t>
            </a:r>
          </a:p>
          <a:p>
            <a:pPr>
              <a:buNone/>
            </a:pPr>
            <a:r>
              <a:rPr lang="en-US" dirty="0"/>
              <a:t> </a:t>
            </a:r>
          </a:p>
          <a:p>
            <a:pPr>
              <a:buNone/>
            </a:pPr>
            <a:r>
              <a:rPr lang="en-US" dirty="0"/>
              <a:t>I created the project logo</a:t>
            </a:r>
          </a:p>
          <a:p>
            <a:pPr>
              <a:buNone/>
            </a:pPr>
            <a:r>
              <a:rPr lang="en-US" dirty="0"/>
              <a:t> </a:t>
            </a:r>
          </a:p>
          <a:p>
            <a:pPr>
              <a:buNone/>
            </a:pPr>
            <a:r>
              <a:rPr lang="en-US" dirty="0"/>
              <a:t>Assisted with UI and design decisions</a:t>
            </a:r>
          </a:p>
          <a:p>
            <a:pPr>
              <a:buNone/>
            </a:pPr>
            <a:r>
              <a:rPr lang="en-US" dirty="0"/>
              <a:t> </a:t>
            </a:r>
          </a:p>
          <a:p>
            <a:pPr>
              <a:buNone/>
            </a:pPr>
            <a:r>
              <a:rPr lang="en-US" dirty="0"/>
              <a:t>Populated the database with content and test data</a:t>
            </a:r>
          </a:p>
          <a:p>
            <a:pPr>
              <a:buNone/>
            </a:pPr>
            <a:r>
              <a:rPr lang="en-US" dirty="0"/>
              <a:t> </a:t>
            </a:r>
          </a:p>
          <a:p>
            <a:pPr>
              <a:buNone/>
            </a:pPr>
            <a:r>
              <a:rPr lang="en-US" dirty="0"/>
              <a:t>Helped with general troubleshooting and planning</a:t>
            </a:r>
          </a:p>
          <a:p>
            <a:pPr>
              <a:buNone/>
            </a:pPr>
            <a:r>
              <a:rPr lang="en-US" dirty="0"/>
              <a:t> </a:t>
            </a:r>
          </a:p>
          <a:p>
            <a:pPr>
              <a:buNone/>
            </a:pPr>
            <a:r>
              <a:rPr lang="en-US" dirty="0"/>
              <a:t>Overall, my job was making sure the website was functional, secure, and deployable, while also supporting the visual and data side of the project. </a:t>
            </a:r>
            <a:endParaRPr lang="hu-HU" dirty="0"/>
          </a:p>
          <a:p>
            <a:pPr marL="0" lvl="0" indent="0" algn="l">
              <a:spcBef>
                <a:spcPts val="0"/>
              </a:spcBef>
              <a:spcAft>
                <a:spcPts val="0"/>
              </a:spcAft>
              <a:buNone/>
            </a:pPr>
            <a:endParaRPr dirty="0"/>
          </a:p>
        </p:txBody>
      </p:sp>
    </p:spTree>
    <p:extLst>
      <p:ext uri="{BB962C8B-B14F-4D97-AF65-F5344CB8AC3E}">
        <p14:creationId xmlns:p14="http://schemas.microsoft.com/office/powerpoint/2010/main" val="342042359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63B6B3F8-56BE-C66E-E540-C236253074AB}"/>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08D7D666-222A-513F-88B3-4A417CEC44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398DD96D-5B4E-A36A-EB64-E1E285673DA8}"/>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a:t>frontend: </a:t>
            </a:r>
            <a:endParaRPr lang="hu-HU"/>
          </a:p>
          <a:p>
            <a:pPr>
              <a:buNone/>
            </a:pPr>
            <a:r>
              <a:rPr lang="en-US" dirty="0"/>
              <a:t> </a:t>
            </a:r>
          </a:p>
          <a:p>
            <a:pPr>
              <a:buNone/>
            </a:pPr>
            <a:r>
              <a:rPr lang="en-US" dirty="0"/>
              <a:t>My primary responsibility was transforming our concept into a fully functional, visually compelling web application. I focused on creating a modern, clean, and unique user interface that delivers an exceptional user experience.</a:t>
            </a:r>
          </a:p>
          <a:p>
            <a:pPr>
              <a:buNone/>
            </a:pPr>
            <a:r>
              <a:rPr lang="en-US" dirty="0"/>
              <a:t> </a:t>
            </a:r>
            <a:endParaRPr lang="hu-HU" dirty="0"/>
          </a:p>
          <a:p>
            <a:pPr marL="0" lvl="0" indent="0" algn="l">
              <a:spcBef>
                <a:spcPts val="0"/>
              </a:spcBef>
              <a:spcAft>
                <a:spcPts val="0"/>
              </a:spcAft>
              <a:buNone/>
            </a:pPr>
            <a:endParaRPr dirty="0"/>
          </a:p>
        </p:txBody>
      </p:sp>
    </p:spTree>
    <p:extLst>
      <p:ext uri="{BB962C8B-B14F-4D97-AF65-F5344CB8AC3E}">
        <p14:creationId xmlns:p14="http://schemas.microsoft.com/office/powerpoint/2010/main" val="65542345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D4F1126E-FCCE-EE17-D977-65E72C34A639}"/>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73505BE8-27C2-0BE3-F264-77774D3B5344}"/>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A365A852-F05E-B504-DC4C-C4C2BDDC3DA1}"/>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a:buNone/>
            </a:pPr>
            <a:r>
              <a:rPr lang="en-US" dirty="0"/>
              <a:t>For the design I used Figma because  Its easy to design and create a prototype of your webpage.</a:t>
            </a:r>
            <a:endParaRPr lang="hu-HU"/>
          </a:p>
          <a:p>
            <a:pPr>
              <a:buNone/>
            </a:pPr>
            <a:r>
              <a:rPr lang="en-US" dirty="0"/>
              <a:t> </a:t>
            </a:r>
          </a:p>
          <a:p>
            <a:pPr>
              <a:buNone/>
            </a:pPr>
            <a:r>
              <a:rPr lang="en-US" dirty="0"/>
              <a:t>I used Angular Framework to code the webpage. It was hard to learn and I'm still learning it but it makes coding easier by its component driven feature. Also its scalable and long term maintainable.</a:t>
            </a:r>
            <a:endParaRPr lang="en-US"/>
          </a:p>
          <a:p>
            <a:pPr>
              <a:buNone/>
            </a:pPr>
            <a:r>
              <a:rPr lang="en-US" dirty="0"/>
              <a:t>I used signals for reactive state integrated Rest API's</a:t>
            </a:r>
            <a:endParaRPr lang="en-US"/>
          </a:p>
          <a:p>
            <a:pPr>
              <a:buNone/>
            </a:pPr>
            <a:r>
              <a:rPr lang="en-US" dirty="0"/>
              <a:t>and routes because of the guards feature</a:t>
            </a:r>
          </a:p>
          <a:p>
            <a:pPr>
              <a:buNone/>
            </a:pPr>
            <a:r>
              <a:rPr lang="en-US" dirty="0"/>
              <a:t> </a:t>
            </a:r>
          </a:p>
          <a:p>
            <a:pPr>
              <a:buNone/>
            </a:pPr>
            <a:r>
              <a:rPr lang="en-US" dirty="0"/>
              <a:t>Design System: Consistent color palette (#ff6600 orange primary, #2b2b2b dark charcoal like, #fffafa light snow white)</a:t>
            </a:r>
          </a:p>
          <a:p>
            <a:pPr>
              <a:buNone/>
            </a:pPr>
            <a:r>
              <a:rPr lang="en-US" dirty="0"/>
              <a:t>orange is associated with energy and performance  colors, charcoal dark and snow white feels like trust and clarity and good mobilization on the webpage</a:t>
            </a:r>
          </a:p>
          <a:p>
            <a:pPr marL="0" indent="0">
              <a:buNone/>
            </a:pPr>
            <a:r>
              <a:rPr lang="en-US" dirty="0"/>
              <a:t>I recreated the palletes 3 times :DDDDDDDDDDDD</a:t>
            </a:r>
            <a:endParaRPr/>
          </a:p>
        </p:txBody>
      </p:sp>
    </p:spTree>
    <p:extLst>
      <p:ext uri="{BB962C8B-B14F-4D97-AF65-F5344CB8AC3E}">
        <p14:creationId xmlns:p14="http://schemas.microsoft.com/office/powerpoint/2010/main" val="310758235"/>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FC11C8FA-2246-5170-AA02-24C8C4ADE965}"/>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F69A0D23-D4B7-F63F-530B-0650398FC22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4F1840F1-A0CE-EBA3-2F72-44E7426DE81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Now that we talked about our responsibilities, let me talk about other technologies we used</a:t>
            </a:r>
            <a:endParaRPr lang="hu-HU" dirty="0"/>
          </a:p>
        </p:txBody>
      </p:sp>
    </p:spTree>
    <p:extLst>
      <p:ext uri="{BB962C8B-B14F-4D97-AF65-F5344CB8AC3E}">
        <p14:creationId xmlns:p14="http://schemas.microsoft.com/office/powerpoint/2010/main" val="375918314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9690FA47-FC1B-2A20-B740-C97AED07D570}"/>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C8C53D96-AD94-0439-A7CA-35A4E98694DD}"/>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C7586452-DE0F-9A42-6D92-23AAF9E6FF3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34047134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84146FEF-69C8-2B7A-3D80-AB04EAB48901}"/>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18159EC1-27E1-4044-02F0-56973035140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92FA7F4A-30F2-4DD1-AF0C-F20EA93B355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hu-HU" dirty="0" err="1"/>
              <a:t>How</a:t>
            </a:r>
            <a:r>
              <a:rPr lang="hu-HU" dirty="0"/>
              <a:t> </a:t>
            </a:r>
            <a:r>
              <a:rPr lang="hu-HU" dirty="0" err="1"/>
              <a:t>we</a:t>
            </a:r>
            <a:r>
              <a:rPr lang="hu-HU" dirty="0"/>
              <a:t> tested </a:t>
            </a:r>
            <a:r>
              <a:rPr lang="hu-HU" dirty="0" err="1"/>
              <a:t>CarComps</a:t>
            </a:r>
            <a:r>
              <a:rPr lang="hu-HU" dirty="0"/>
              <a:t>?</a:t>
            </a:r>
          </a:p>
        </p:txBody>
      </p:sp>
    </p:spTree>
    <p:extLst>
      <p:ext uri="{BB962C8B-B14F-4D97-AF65-F5344CB8AC3E}">
        <p14:creationId xmlns:p14="http://schemas.microsoft.com/office/powerpoint/2010/main" val="45707113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71E51ABD-C031-C24D-8E7F-6BBCB977EBC5}"/>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4FAFD9DD-76E7-0C90-9A08-9FFD5F05165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B022DC00-5302-7728-A76E-1D04B074F6B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516598944"/>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FC0EEC98-6D4A-BC82-533C-323FAFBFE78D}"/>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1772E1A7-6AAB-6926-101B-507D457A2297}"/>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599EF682-FFE5-3FCE-187B-0DC778E44FE3}"/>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How we </a:t>
            </a:r>
            <a:r>
              <a:rPr lang="en-US" dirty="0" err="1"/>
              <a:t>splitted</a:t>
            </a:r>
            <a:r>
              <a:rPr lang="en-US" dirty="0"/>
              <a:t> up our work</a:t>
            </a:r>
            <a:endParaRPr lang="hu-HU" dirty="0"/>
          </a:p>
        </p:txBody>
      </p:sp>
    </p:spTree>
    <p:extLst>
      <p:ext uri="{BB962C8B-B14F-4D97-AF65-F5344CB8AC3E}">
        <p14:creationId xmlns:p14="http://schemas.microsoft.com/office/powerpoint/2010/main" val="161588049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EA31BCBF-0618-1F06-A71E-B92D93135E20}"/>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3ABEFBC5-C00D-D37E-F5CC-4E1E9DB5370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F7109D2A-8A15-650A-3412-8902A05B187B}"/>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4200630098"/>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C023D3E9-2F4C-CB27-DEDE-D67DC2EB3053}"/>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6BAB612B-0C54-9693-0A0D-26F619844CE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4C1BEC6D-A987-0143-4C22-80D8459B6447}"/>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261780811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DEBBC038-CA4F-3857-A542-F06F33EC4547}"/>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F8070B6E-7B3E-2B7D-7223-3E2F1B68169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77626CF5-0081-A749-6067-49DFB2EA5C65}"/>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Tree>
    <p:extLst>
      <p:ext uri="{BB962C8B-B14F-4D97-AF65-F5344CB8AC3E}">
        <p14:creationId xmlns:p14="http://schemas.microsoft.com/office/powerpoint/2010/main" val="1524489743"/>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97EFBF30-8DEC-A7C7-FAE1-BAE46B5EAF50}"/>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CE54202F-0C73-8C0D-C7DF-267E6A1390B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95519ED4-01EC-0F5B-31E2-DA2FBACA9844}"/>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a:t>future plank</a:t>
            </a:r>
            <a:endParaRPr lang="hu-HU" dirty="0"/>
          </a:p>
        </p:txBody>
      </p:sp>
    </p:spTree>
    <p:extLst>
      <p:ext uri="{BB962C8B-B14F-4D97-AF65-F5344CB8AC3E}">
        <p14:creationId xmlns:p14="http://schemas.microsoft.com/office/powerpoint/2010/main" val="239501841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39E2FEB8-1EAA-EE77-113B-23ADF889E732}"/>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239510F9-8102-5D2F-EF46-728AE91917C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0989B915-E7ED-1D5F-3D9F-BAB73DD517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hu-HU" err="1"/>
              <a:t>We</a:t>
            </a:r>
            <a:r>
              <a:rPr lang="hu-HU" dirty="0"/>
              <a:t> </a:t>
            </a:r>
            <a:r>
              <a:rPr lang="hu-HU" err="1"/>
              <a:t>want</a:t>
            </a:r>
            <a:r>
              <a:rPr lang="hu-HU" dirty="0"/>
              <a:t> </a:t>
            </a:r>
            <a:r>
              <a:rPr lang="hu-HU" err="1"/>
              <a:t>to</a:t>
            </a:r>
            <a:r>
              <a:rPr lang="hu-HU" dirty="0"/>
              <a:t> </a:t>
            </a:r>
            <a:r>
              <a:rPr lang="hu-HU" err="1"/>
              <a:t>maintain</a:t>
            </a:r>
            <a:r>
              <a:rPr lang="hu-HU" dirty="0"/>
              <a:t> a 24/7 server.</a:t>
            </a:r>
            <a:br>
              <a:rPr lang="hu-HU" dirty="0"/>
            </a:br>
            <a:r>
              <a:rPr lang="hu-HU" err="1"/>
              <a:t>We</a:t>
            </a:r>
            <a:r>
              <a:rPr lang="hu-HU" dirty="0"/>
              <a:t> </a:t>
            </a:r>
            <a:r>
              <a:rPr lang="hu-HU" err="1"/>
              <a:t>want</a:t>
            </a:r>
            <a:r>
              <a:rPr lang="hu-HU" dirty="0"/>
              <a:t> </a:t>
            </a:r>
            <a:r>
              <a:rPr lang="hu-HU" err="1"/>
              <a:t>to</a:t>
            </a:r>
            <a:r>
              <a:rPr lang="hu-HU" dirty="0"/>
              <a:t> </a:t>
            </a:r>
            <a:r>
              <a:rPr lang="hu-HU" err="1"/>
              <a:t>expand</a:t>
            </a:r>
            <a:r>
              <a:rPr lang="hu-HU" dirty="0"/>
              <a:t> </a:t>
            </a:r>
            <a:r>
              <a:rPr lang="hu-HU" err="1"/>
              <a:t>our</a:t>
            </a:r>
            <a:r>
              <a:rPr lang="hu-HU" dirty="0"/>
              <a:t> </a:t>
            </a:r>
            <a:r>
              <a:rPr lang="hu-HU" err="1"/>
              <a:t>statistics</a:t>
            </a:r>
            <a:endParaRPr lang="hu-HU" dirty="0" err="1"/>
          </a:p>
          <a:p>
            <a:pPr marL="0" indent="0">
              <a:buNone/>
            </a:pPr>
            <a:r>
              <a:rPr lang="hu-HU" dirty="0" err="1"/>
              <a:t>We</a:t>
            </a:r>
            <a:r>
              <a:rPr lang="hu-HU" dirty="0"/>
              <a:t> </a:t>
            </a:r>
            <a:r>
              <a:rPr lang="hu-HU" dirty="0" err="1"/>
              <a:t>want</a:t>
            </a:r>
            <a:r>
              <a:rPr lang="hu-HU" dirty="0"/>
              <a:t> </a:t>
            </a:r>
            <a:r>
              <a:rPr lang="hu-HU" dirty="0" err="1"/>
              <a:t>to</a:t>
            </a:r>
            <a:r>
              <a:rPr lang="hu-HU" dirty="0"/>
              <a:t> </a:t>
            </a:r>
            <a:r>
              <a:rPr lang="hu-HU" dirty="0" err="1"/>
              <a:t>implement</a:t>
            </a:r>
            <a:r>
              <a:rPr lang="hu-HU" dirty="0"/>
              <a:t> a </a:t>
            </a:r>
            <a:r>
              <a:rPr lang="hu-HU" dirty="0" err="1"/>
              <a:t>better</a:t>
            </a:r>
            <a:r>
              <a:rPr lang="hu-HU" dirty="0"/>
              <a:t> </a:t>
            </a:r>
            <a:r>
              <a:rPr lang="hu-HU" dirty="0" err="1"/>
              <a:t>review</a:t>
            </a:r>
            <a:r>
              <a:rPr lang="hu-HU" dirty="0"/>
              <a:t> </a:t>
            </a:r>
            <a:r>
              <a:rPr lang="hu-HU" dirty="0" err="1"/>
              <a:t>system</a:t>
            </a:r>
            <a:r>
              <a:rPr lang="hu-HU" dirty="0"/>
              <a:t> (</a:t>
            </a:r>
            <a:r>
              <a:rPr lang="hu-HU" dirty="0" err="1"/>
              <a:t>such</a:t>
            </a:r>
            <a:r>
              <a:rPr lang="hu-HU" dirty="0"/>
              <a:t> </a:t>
            </a:r>
            <a:r>
              <a:rPr lang="hu-HU" dirty="0" err="1"/>
              <a:t>as</a:t>
            </a:r>
            <a:r>
              <a:rPr lang="hu-HU" dirty="0"/>
              <a:t> </a:t>
            </a:r>
            <a:r>
              <a:rPr lang="hu-HU" dirty="0" err="1"/>
              <a:t>hiring</a:t>
            </a:r>
            <a:r>
              <a:rPr lang="hu-HU" dirty="0"/>
              <a:t> </a:t>
            </a:r>
            <a:r>
              <a:rPr lang="hu-HU" dirty="0" err="1"/>
              <a:t>staffs</a:t>
            </a:r>
            <a:r>
              <a:rPr lang="hu-HU" dirty="0"/>
              <a:t> </a:t>
            </a:r>
            <a:r>
              <a:rPr lang="hu-HU" dirty="0" err="1"/>
              <a:t>to</a:t>
            </a:r>
            <a:r>
              <a:rPr lang="hu-HU" dirty="0"/>
              <a:t> </a:t>
            </a:r>
            <a:r>
              <a:rPr lang="hu-HU" dirty="0" err="1"/>
              <a:t>reply</a:t>
            </a:r>
            <a:r>
              <a:rPr lang="hu-HU" dirty="0"/>
              <a:t> </a:t>
            </a:r>
            <a:r>
              <a:rPr lang="hu-HU" dirty="0" err="1"/>
              <a:t>to</a:t>
            </a:r>
            <a:r>
              <a:rPr lang="hu-HU" dirty="0"/>
              <a:t> </a:t>
            </a:r>
            <a:r>
              <a:rPr lang="hu-HU" dirty="0" err="1"/>
              <a:t>the</a:t>
            </a:r>
            <a:r>
              <a:rPr lang="hu-HU" dirty="0"/>
              <a:t> </a:t>
            </a:r>
            <a:r>
              <a:rPr lang="hu-HU" dirty="0" err="1"/>
              <a:t>reviews</a:t>
            </a:r>
            <a:r>
              <a:rPr lang="hu-HU" dirty="0"/>
              <a:t> and letting </a:t>
            </a:r>
            <a:r>
              <a:rPr lang="hu-HU" dirty="0" err="1"/>
              <a:t>users</a:t>
            </a:r>
            <a:r>
              <a:rPr lang="hu-HU" dirty="0"/>
              <a:t> </a:t>
            </a:r>
            <a:r>
              <a:rPr lang="hu-HU" dirty="0" err="1"/>
              <a:t>attach</a:t>
            </a:r>
            <a:r>
              <a:rPr lang="hu-HU" dirty="0"/>
              <a:t> </a:t>
            </a:r>
            <a:r>
              <a:rPr lang="hu-HU" dirty="0" err="1"/>
              <a:t>pictures</a:t>
            </a:r>
            <a:r>
              <a:rPr lang="hu-HU" dirty="0"/>
              <a:t> </a:t>
            </a:r>
            <a:r>
              <a:rPr lang="hu-HU" dirty="0" err="1"/>
              <a:t>to</a:t>
            </a:r>
            <a:r>
              <a:rPr lang="hu-HU" dirty="0"/>
              <a:t> </a:t>
            </a:r>
            <a:r>
              <a:rPr lang="hu-HU" dirty="0" err="1"/>
              <a:t>their</a:t>
            </a:r>
            <a:r>
              <a:rPr lang="hu-HU" dirty="0"/>
              <a:t> </a:t>
            </a:r>
            <a:r>
              <a:rPr lang="hu-HU" dirty="0" err="1"/>
              <a:t>reviews</a:t>
            </a:r>
            <a:r>
              <a:rPr lang="hu-HU" dirty="0"/>
              <a:t>)</a:t>
            </a:r>
          </a:p>
        </p:txBody>
      </p:sp>
    </p:spTree>
    <p:extLst>
      <p:ext uri="{BB962C8B-B14F-4D97-AF65-F5344CB8AC3E}">
        <p14:creationId xmlns:p14="http://schemas.microsoft.com/office/powerpoint/2010/main" val="1015990319"/>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6">
          <a:extLst>
            <a:ext uri="{FF2B5EF4-FFF2-40B4-BE49-F238E27FC236}">
              <a16:creationId xmlns:a16="http://schemas.microsoft.com/office/drawing/2014/main" id="{7D549BC4-CAEF-F91E-0AAD-53A65DC82239}"/>
            </a:ext>
          </a:extLst>
        </p:cNvPr>
        <p:cNvGrpSpPr/>
        <p:nvPr/>
      </p:nvGrpSpPr>
      <p:grpSpPr>
        <a:xfrm>
          <a:off x="0" y="0"/>
          <a:ext cx="0" cy="0"/>
          <a:chOff x="0" y="0"/>
          <a:chExt cx="0" cy="0"/>
        </a:xfrm>
      </p:grpSpPr>
      <p:sp>
        <p:nvSpPr>
          <p:cNvPr id="57" name="Google Shape;57;g3b4fd9135da_1_0:notes">
            <a:extLst>
              <a:ext uri="{FF2B5EF4-FFF2-40B4-BE49-F238E27FC236}">
                <a16:creationId xmlns:a16="http://schemas.microsoft.com/office/drawing/2014/main" id="{E6C911F7-6883-180D-71FD-531F7E4D42C8}"/>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
        <p:nvSpPr>
          <p:cNvPr id="58" name="Google Shape;58;g3b4fd9135da_1_0:notes">
            <a:extLst>
              <a:ext uri="{FF2B5EF4-FFF2-40B4-BE49-F238E27FC236}">
                <a16:creationId xmlns:a16="http://schemas.microsoft.com/office/drawing/2014/main" id="{002878F5-F1B0-C6B3-31D7-80B9C3EA5C5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indent="0">
              <a:buNone/>
            </a:pPr>
            <a:r>
              <a:rPr lang="en-US" dirty="0" err="1"/>
              <a:t>Lets</a:t>
            </a:r>
            <a:r>
              <a:rPr lang="en-US" dirty="0"/>
              <a:t> try our website!</a:t>
            </a:r>
            <a:endParaRPr lang="hu-HU" dirty="0"/>
          </a:p>
        </p:txBody>
      </p:sp>
    </p:spTree>
    <p:extLst>
      <p:ext uri="{BB962C8B-B14F-4D97-AF65-F5344CB8AC3E}">
        <p14:creationId xmlns:p14="http://schemas.microsoft.com/office/powerpoint/2010/main" val="212948935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hu"/>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hu"/>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microsoft.com/office/2018/10/relationships/comments" Target="../comments/modernComment_101_0.xml"/><Relationship Id="rId2" Type="http://schemas.openxmlformats.org/officeDocument/2006/relationships/notesSlide" Target="../notesSlides/notesSlide4.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3" Type="http://schemas.microsoft.com/office/2018/10/relationships/comments" Target="../comments/modernComment_104_BAD6966C.xml"/><Relationship Id="rId2" Type="http://schemas.openxmlformats.org/officeDocument/2006/relationships/notesSlide" Target="../notesSlides/notesSlide5.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6.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microsoft.com/office/2018/10/relationships/comments" Target="../comments/modernComment_106_420E119A.xml"/><Relationship Id="rId2" Type="http://schemas.openxmlformats.org/officeDocument/2006/relationships/notesSlide" Target="../notesSlides/notesSlide7.xml"/><Relationship Id="rId1" Type="http://schemas.openxmlformats.org/officeDocument/2006/relationships/slideLayout" Target="../slideLayouts/slideLayout3.xml"/><Relationship Id="rId4" Type="http://schemas.openxmlformats.org/officeDocument/2006/relationships/image" Target="../media/image4.png"/></Relationships>
</file>

<file path=ppt/slides/_rels/slide8.xml.rels><?xml version="1.0" encoding="UTF-8" standalone="yes"?>
<Relationships xmlns="http://schemas.openxmlformats.org/package/2006/relationships"><Relationship Id="rId3" Type="http://schemas.microsoft.com/office/2018/10/relationships/comments" Target="../comments/modernComment_107_6F78E53D.xml"/><Relationship Id="rId2" Type="http://schemas.openxmlformats.org/officeDocument/2006/relationships/notesSlide" Target="../notesSlides/notesSlide8.xml"/><Relationship Id="rId1" Type="http://schemas.openxmlformats.org/officeDocument/2006/relationships/slideLayout" Target="../slideLayouts/slideLayout3.xml"/><Relationship Id="rId6" Type="http://schemas.openxmlformats.org/officeDocument/2006/relationships/image" Target="../media/image6.png"/><Relationship Id="rId5" Type="http://schemas.openxmlformats.org/officeDocument/2006/relationships/image" Target="../media/image5.png"/><Relationship Id="rId4" Type="http://schemas.openxmlformats.org/officeDocument/2006/relationships/image" Target="../media/image4.png"/></Relationships>
</file>

<file path=ppt/slides/_rels/slide9.xml.rels><?xml version="1.0" encoding="UTF-8" standalone="yes"?>
<Relationships xmlns="http://schemas.openxmlformats.org/package/2006/relationships"><Relationship Id="rId3" Type="http://schemas.microsoft.com/office/2018/10/relationships/comments" Target="../comments/modernComment_10B_8D4715EF.xml"/><Relationship Id="rId2" Type="http://schemas.openxmlformats.org/officeDocument/2006/relationships/notesSlide" Target="../notesSlides/notesSlide9.xml"/><Relationship Id="rId1" Type="http://schemas.openxmlformats.org/officeDocument/2006/relationships/slideLayout" Target="../slideLayouts/slideLayout3.xm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3" Type="http://schemas.microsoft.com/office/2018/10/relationships/comments" Target="../comments/modernComment_11A_A26FCB50.xm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8.png"/></Relationships>
</file>

<file path=ppt/slides/_rels/slide11.xml.rels><?xml version="1.0" encoding="UTF-8" standalone="yes"?>
<Relationships xmlns="http://schemas.openxmlformats.org/package/2006/relationships"><Relationship Id="rId3" Type="http://schemas.microsoft.com/office/2018/10/relationships/comments" Target="../comments/modernComment_10E_DEF6B9B1.xml"/><Relationship Id="rId2" Type="http://schemas.openxmlformats.org/officeDocument/2006/relationships/notesSlide" Target="../notesSlides/notesSlide11.xml"/><Relationship Id="rId1" Type="http://schemas.openxmlformats.org/officeDocument/2006/relationships/slideLayout" Target="../slideLayouts/slideLayout3.xml"/><Relationship Id="rId5" Type="http://schemas.openxmlformats.org/officeDocument/2006/relationships/image" Target="../media/image5.png"/><Relationship Id="rId4" Type="http://schemas.openxmlformats.org/officeDocument/2006/relationships/image" Target="../media/image4.png"/></Relationships>
</file>

<file path=ppt/slides/_rels/slide12.xml.rels><?xml version="1.0" encoding="UTF-8" standalone="yes"?>
<Relationships xmlns="http://schemas.openxmlformats.org/package/2006/relationships"><Relationship Id="rId3" Type="http://schemas.microsoft.com/office/2018/10/relationships/comments" Target="../comments/modernComment_108_8A2D32FE.xml"/><Relationship Id="rId7"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png"/></Relationships>
</file>

<file path=ppt/slides/_rels/slide13.xml.rels><?xml version="1.0" encoding="UTF-8" standalone="yes"?>
<Relationships xmlns="http://schemas.openxmlformats.org/package/2006/relationships"><Relationship Id="rId3" Type="http://schemas.microsoft.com/office/2018/10/relationships/comments" Target="../comments/modernComment_10F_AE160D34.xml"/><Relationship Id="rId7" Type="http://schemas.openxmlformats.org/officeDocument/2006/relationships/image" Target="../media/image5.png"/><Relationship Id="rId2" Type="http://schemas.openxmlformats.org/officeDocument/2006/relationships/notesSlide" Target="../notesSlides/notesSlide13.xml"/><Relationship Id="rId1" Type="http://schemas.openxmlformats.org/officeDocument/2006/relationships/slideLayout" Target="../slideLayouts/slideLayout3.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4.png"/></Relationships>
</file>

<file path=ppt/slides/_rels/slide14.xml.rels><?xml version="1.0" encoding="UTF-8" standalone="yes"?>
<Relationships xmlns="http://schemas.openxmlformats.org/package/2006/relationships"><Relationship Id="rId3" Type="http://schemas.microsoft.com/office/2018/10/relationships/comments" Target="../comments/modernComment_109_F722F283.xml"/><Relationship Id="rId2" Type="http://schemas.openxmlformats.org/officeDocument/2006/relationships/notesSlide" Target="../notesSlides/notesSlide14.xml"/><Relationship Id="rId1" Type="http://schemas.openxmlformats.org/officeDocument/2006/relationships/slideLayout" Target="../slideLayouts/slideLayout3.xml"/><Relationship Id="rId6" Type="http://schemas.openxmlformats.org/officeDocument/2006/relationships/image" Target="../media/image13.png"/><Relationship Id="rId5" Type="http://schemas.openxmlformats.org/officeDocument/2006/relationships/image" Target="../media/image12.png"/><Relationship Id="rId4" Type="http://schemas.openxmlformats.org/officeDocument/2006/relationships/image" Target="../media/image4.png"/></Relationships>
</file>

<file path=ppt/slides/_rels/slide15.xml.rels><?xml version="1.0" encoding="UTF-8" standalone="yes"?>
<Relationships xmlns="http://schemas.openxmlformats.org/package/2006/relationships"><Relationship Id="rId8" Type="http://schemas.openxmlformats.org/officeDocument/2006/relationships/image" Target="../media/image9.png"/><Relationship Id="rId3" Type="http://schemas.microsoft.com/office/2018/10/relationships/comments" Target="../comments/modernComment_110_274BDCBB.xml"/><Relationship Id="rId7"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3.xml"/><Relationship Id="rId6" Type="http://schemas.openxmlformats.org/officeDocument/2006/relationships/image" Target="../media/image14.png"/><Relationship Id="rId5" Type="http://schemas.openxmlformats.org/officeDocument/2006/relationships/image" Target="../media/image13.png"/><Relationship Id="rId10" Type="http://schemas.openxmlformats.org/officeDocument/2006/relationships/image" Target="../media/image5.png"/><Relationship Id="rId4" Type="http://schemas.openxmlformats.org/officeDocument/2006/relationships/image" Target="../media/image4.png"/><Relationship Id="rId9" Type="http://schemas.openxmlformats.org/officeDocument/2006/relationships/image" Target="../media/image10.png"/></Relationships>
</file>

<file path=ppt/slides/_rels/slide16.xml.rels><?xml version="1.0" encoding="UTF-8" standalone="yes"?>
<Relationships xmlns="http://schemas.openxmlformats.org/package/2006/relationships"><Relationship Id="rId8" Type="http://schemas.openxmlformats.org/officeDocument/2006/relationships/image" Target="../media/image19.png"/><Relationship Id="rId3" Type="http://schemas.microsoft.com/office/2018/10/relationships/comments" Target="../comments/modernComment_10A_1B3A1ED7.xml"/><Relationship Id="rId7" Type="http://schemas.openxmlformats.org/officeDocument/2006/relationships/image" Target="../media/image18.png"/><Relationship Id="rId2" Type="http://schemas.openxmlformats.org/officeDocument/2006/relationships/notesSlide" Target="../notesSlides/notesSlide16.xml"/><Relationship Id="rId1" Type="http://schemas.openxmlformats.org/officeDocument/2006/relationships/slideLayout" Target="../slideLayouts/slideLayout3.xml"/><Relationship Id="rId6" Type="http://schemas.openxmlformats.org/officeDocument/2006/relationships/image" Target="../media/image17.png"/><Relationship Id="rId11" Type="http://schemas.openxmlformats.org/officeDocument/2006/relationships/image" Target="../media/image22.png"/><Relationship Id="rId5" Type="http://schemas.openxmlformats.org/officeDocument/2006/relationships/image" Target="../media/image16.png"/><Relationship Id="rId10" Type="http://schemas.openxmlformats.org/officeDocument/2006/relationships/image" Target="../media/image21.png"/><Relationship Id="rId4" Type="http://schemas.openxmlformats.org/officeDocument/2006/relationships/image" Target="../media/image4.png"/><Relationship Id="rId9" Type="http://schemas.openxmlformats.org/officeDocument/2006/relationships/image" Target="../media/image20.png"/></Relationships>
</file>

<file path=ppt/slides/_rels/slide1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28.png"/><Relationship Id="rId4" Type="http://schemas.openxmlformats.org/officeDocument/2006/relationships/image" Target="../media/image27.png"/></Relationships>
</file>

<file path=ppt/slides/_rels/slide2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3"/>
        <p:cNvGrpSpPr/>
        <p:nvPr/>
      </p:nvGrpSpPr>
      <p:grpSpPr>
        <a:xfrm>
          <a:off x="0" y="0"/>
          <a:ext cx="0" cy="0"/>
          <a:chOff x="0" y="0"/>
          <a:chExt cx="0" cy="0"/>
        </a:xfrm>
      </p:grpSpPr>
      <p:sp>
        <p:nvSpPr>
          <p:cNvPr id="54" name="Google Shape;54;p13"/>
          <p:cNvSpPr txBox="1">
            <a:spLocks noGrp="1"/>
          </p:cNvSpPr>
          <p:nvPr>
            <p:ph type="subTitle" idx="1"/>
          </p:nvPr>
        </p:nvSpPr>
        <p:spPr>
          <a:xfrm>
            <a:off x="311700" y="2898300"/>
            <a:ext cx="8520600" cy="1025400"/>
          </a:xfrm>
          <a:prstGeom prst="rect">
            <a:avLst/>
          </a:prstGeom>
        </p:spPr>
        <p:txBody>
          <a:bodyPr spcFirstLastPara="1" wrap="square" lIns="91425" tIns="91425" rIns="91425" bIns="91425" anchor="t" anchorCtr="0">
            <a:noAutofit/>
          </a:bodyPr>
          <a:lstStyle/>
          <a:p>
            <a:pPr marL="0" lvl="0" indent="0" algn="ctr" rtl="0">
              <a:lnSpc>
                <a:spcPct val="80000"/>
              </a:lnSpc>
              <a:spcBef>
                <a:spcPts val="0"/>
              </a:spcBef>
              <a:spcAft>
                <a:spcPts val="0"/>
              </a:spcAft>
              <a:buSzPts val="440"/>
              <a:buNone/>
            </a:pPr>
            <a:r>
              <a:rPr lang="hu" sz="1400" dirty="0" err="1">
                <a:solidFill>
                  <a:srgbClr val="FFFAFA"/>
                </a:solidFill>
                <a:latin typeface="Karla"/>
                <a:ea typeface="Karla"/>
                <a:cs typeface="Karla"/>
                <a:sym typeface="Karla"/>
              </a:rPr>
              <a:t>Made</a:t>
            </a:r>
            <a:r>
              <a:rPr lang="hu" sz="1400" dirty="0">
                <a:solidFill>
                  <a:srgbClr val="FFFAFA"/>
                </a:solidFill>
                <a:latin typeface="Karla"/>
                <a:ea typeface="Karla"/>
                <a:cs typeface="Karla"/>
                <a:sym typeface="Karla"/>
              </a:rPr>
              <a:t> </a:t>
            </a:r>
            <a:r>
              <a:rPr lang="hu" sz="1400" dirty="0" err="1">
                <a:solidFill>
                  <a:srgbClr val="FFFAFA"/>
                </a:solidFill>
                <a:latin typeface="Karla"/>
                <a:ea typeface="Karla"/>
                <a:cs typeface="Karla"/>
                <a:sym typeface="Karla"/>
              </a:rPr>
              <a:t>by</a:t>
            </a:r>
            <a:endParaRPr sz="1400" dirty="0" err="1">
              <a:solidFill>
                <a:srgbClr val="FFFAFA"/>
              </a:solidFill>
              <a:latin typeface="Karla"/>
              <a:ea typeface="Karla"/>
              <a:cs typeface="Karla"/>
              <a:sym typeface="Karla"/>
            </a:endParaRPr>
          </a:p>
          <a:p>
            <a:pPr marL="0" indent="0">
              <a:lnSpc>
                <a:spcPct val="80000"/>
              </a:lnSpc>
              <a:buSzPts val="440"/>
            </a:pPr>
            <a:endParaRPr lang="hu" sz="1400" dirty="0">
              <a:solidFill>
                <a:srgbClr val="FFFAFA"/>
              </a:solidFill>
              <a:latin typeface="Karla"/>
            </a:endParaRPr>
          </a:p>
          <a:p>
            <a:pPr marL="0" indent="0">
              <a:lnSpc>
                <a:spcPct val="80000"/>
              </a:lnSpc>
            </a:pPr>
            <a:r>
              <a:rPr lang="hu" sz="1400" err="1">
                <a:solidFill>
                  <a:srgbClr val="FFFAFA"/>
                </a:solidFill>
                <a:latin typeface="Karla"/>
              </a:rPr>
              <a:t>Nebl</a:t>
            </a:r>
            <a:r>
              <a:rPr lang="hu" sz="1400">
                <a:solidFill>
                  <a:srgbClr val="FFFAFA"/>
                </a:solidFill>
                <a:latin typeface="Karla"/>
              </a:rPr>
              <a:t> Gergő </a:t>
            </a:r>
            <a:endParaRPr/>
          </a:p>
          <a:p>
            <a:pPr marL="0" lvl="0" indent="0" algn="ctr" rtl="0">
              <a:lnSpc>
                <a:spcPct val="80000"/>
              </a:lnSpc>
              <a:spcBef>
                <a:spcPts val="0"/>
              </a:spcBef>
              <a:spcAft>
                <a:spcPts val="0"/>
              </a:spcAft>
              <a:buSzPts val="440"/>
              <a:buNone/>
            </a:pPr>
            <a:r>
              <a:rPr lang="hu" sz="1400" dirty="0">
                <a:solidFill>
                  <a:srgbClr val="FFFAFA"/>
                </a:solidFill>
                <a:latin typeface="Karla"/>
                <a:ea typeface="Karla"/>
                <a:cs typeface="Karla"/>
                <a:sym typeface="Karla"/>
              </a:rPr>
              <a:t> Kis-Borbás Dorián Zsolt </a:t>
            </a:r>
            <a:endParaRPr sz="1400" dirty="0">
              <a:solidFill>
                <a:srgbClr val="FFFAFA"/>
              </a:solidFill>
              <a:latin typeface="Karla"/>
              <a:ea typeface="Karla"/>
              <a:cs typeface="Karla"/>
              <a:sym typeface="Karla"/>
            </a:endParaRPr>
          </a:p>
          <a:p>
            <a:pPr marL="0" lvl="0" indent="0" algn="ctr" rtl="0">
              <a:lnSpc>
                <a:spcPct val="80000"/>
              </a:lnSpc>
              <a:spcBef>
                <a:spcPts val="0"/>
              </a:spcBef>
              <a:spcAft>
                <a:spcPts val="0"/>
              </a:spcAft>
              <a:buSzPts val="440"/>
              <a:buNone/>
            </a:pPr>
            <a:r>
              <a:rPr lang="hu" sz="1400" dirty="0">
                <a:solidFill>
                  <a:srgbClr val="FFFAFA"/>
                </a:solidFill>
                <a:latin typeface="Karla"/>
                <a:ea typeface="Karla"/>
                <a:cs typeface="Karla"/>
                <a:sym typeface="Karla"/>
              </a:rPr>
              <a:t>Mészáros Roland</a:t>
            </a:r>
            <a:endParaRPr sz="1400" dirty="0">
              <a:solidFill>
                <a:srgbClr val="FFFAFA"/>
              </a:solidFill>
              <a:latin typeface="Karla"/>
              <a:ea typeface="Karla"/>
              <a:cs typeface="Karla"/>
              <a:sym typeface="Karla"/>
            </a:endParaRPr>
          </a:p>
        </p:txBody>
      </p:sp>
      <p:pic>
        <p:nvPicPr>
          <p:cNvPr id="55" name="Google Shape;55;p13" title="CarComps_Logo_BigassC.png"/>
          <p:cNvPicPr preferRelativeResize="0"/>
          <p:nvPr/>
        </p:nvPicPr>
        <p:blipFill>
          <a:blip r:embed="rId3">
            <a:alphaModFix/>
          </a:blip>
          <a:stretch>
            <a:fillRect/>
          </a:stretch>
        </p:blipFill>
        <p:spPr>
          <a:xfrm>
            <a:off x="152400" y="121263"/>
            <a:ext cx="8839200" cy="2511324"/>
          </a:xfrm>
          <a:prstGeom prst="rect">
            <a:avLst/>
          </a:prstGeom>
          <a:noFill/>
          <a:ln>
            <a:noFill/>
          </a:ln>
          <a:effectLst>
            <a:outerShdw blurRad="50800" dist="114300" dir="8100000" algn="bl" rotWithShape="0">
              <a:srgbClr val="000000"/>
            </a:outerShdw>
          </a:effectLst>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nodeType="after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fade">
                                      <p:cBhvr>
                                        <p:cTn id="7" dur="500"/>
                                        <p:tgtEl>
                                          <p:spTgt spid="55"/>
                                        </p:tgtEl>
                                      </p:cBhvr>
                                    </p:animEffect>
                                  </p:childTnLst>
                                </p:cTn>
                              </p:par>
                            </p:childTnLst>
                          </p:cTn>
                        </p:par>
                      </p:childTnLst>
                    </p:cTn>
                  </p:par>
                  <p:par>
                    <p:cTn id="8" fill="hold">
                      <p:stCondLst>
                        <p:cond delay="indefinite"/>
                      </p:stCondLst>
                      <p:childTnLst>
                        <p:par>
                          <p:cTn id="9" fill="hold">
                            <p:stCondLst>
                              <p:cond delay="0"/>
                            </p:stCondLst>
                            <p:childTnLst>
                              <p:par>
                                <p:cTn id="10" presetID="10" presetClass="entr" presetSubtype="0" fill="hold" grpId="0" nodeType="clickEffect">
                                  <p:stCondLst>
                                    <p:cond delay="0"/>
                                  </p:stCondLst>
                                  <p:childTnLst>
                                    <p:set>
                                      <p:cBhvr>
                                        <p:cTn id="11" dur="1" fill="hold">
                                          <p:stCondLst>
                                            <p:cond delay="0"/>
                                          </p:stCondLst>
                                        </p:cTn>
                                        <p:tgtEl>
                                          <p:spTgt spid="54">
                                            <p:txEl>
                                              <p:pRg st="0" end="0"/>
                                            </p:txEl>
                                          </p:spTgt>
                                        </p:tgtEl>
                                        <p:attrNameLst>
                                          <p:attrName>style.visibility</p:attrName>
                                        </p:attrNameLst>
                                      </p:cBhvr>
                                      <p:to>
                                        <p:strVal val="visible"/>
                                      </p:to>
                                    </p:set>
                                    <p:animEffect transition="in" filter="fade">
                                      <p:cBhvr>
                                        <p:cTn id="12" dur="500"/>
                                        <p:tgtEl>
                                          <p:spTgt spid="54">
                                            <p:txEl>
                                              <p:pRg st="0" end="0"/>
                                            </p:txEl>
                                          </p:spTgt>
                                        </p:tgtEl>
                                      </p:cBhvr>
                                    </p:animEffect>
                                  </p:childTnLst>
                                </p:cTn>
                              </p:par>
                              <p:par>
                                <p:cTn id="13" presetID="10" presetClass="entr" presetSubtype="0" fill="hold" grpId="0" nodeType="withEffect">
                                  <p:stCondLst>
                                    <p:cond delay="0"/>
                                  </p:stCondLst>
                                  <p:childTnLst>
                                    <p:set>
                                      <p:cBhvr>
                                        <p:cTn id="14" dur="1" fill="hold">
                                          <p:stCondLst>
                                            <p:cond delay="0"/>
                                          </p:stCondLst>
                                        </p:cTn>
                                        <p:tgtEl>
                                          <p:spTgt spid="54">
                                            <p:txEl>
                                              <p:pRg st="2" end="2"/>
                                            </p:txEl>
                                          </p:spTgt>
                                        </p:tgtEl>
                                        <p:attrNameLst>
                                          <p:attrName>style.visibility</p:attrName>
                                        </p:attrNameLst>
                                      </p:cBhvr>
                                      <p:to>
                                        <p:strVal val="visible"/>
                                      </p:to>
                                    </p:set>
                                    <p:animEffect transition="in" filter="fade">
                                      <p:cBhvr>
                                        <p:cTn id="15" dur="500"/>
                                        <p:tgtEl>
                                          <p:spTgt spid="54">
                                            <p:txEl>
                                              <p:pRg st="2" end="2"/>
                                            </p:txEl>
                                          </p:spTgt>
                                        </p:tgtEl>
                                      </p:cBhvr>
                                    </p:animEffect>
                                  </p:childTnLst>
                                </p:cTn>
                              </p:par>
                              <p:par>
                                <p:cTn id="16" presetID="10" presetClass="entr" presetSubtype="0" fill="hold" grpId="0" nodeType="withEffect">
                                  <p:stCondLst>
                                    <p:cond delay="0"/>
                                  </p:stCondLst>
                                  <p:childTnLst>
                                    <p:set>
                                      <p:cBhvr>
                                        <p:cTn id="17" dur="1" fill="hold">
                                          <p:stCondLst>
                                            <p:cond delay="0"/>
                                          </p:stCondLst>
                                        </p:cTn>
                                        <p:tgtEl>
                                          <p:spTgt spid="54">
                                            <p:txEl>
                                              <p:pRg st="3" end="3"/>
                                            </p:txEl>
                                          </p:spTgt>
                                        </p:tgtEl>
                                        <p:attrNameLst>
                                          <p:attrName>style.visibility</p:attrName>
                                        </p:attrNameLst>
                                      </p:cBhvr>
                                      <p:to>
                                        <p:strVal val="visible"/>
                                      </p:to>
                                    </p:set>
                                    <p:animEffect transition="in" filter="fade">
                                      <p:cBhvr>
                                        <p:cTn id="18" dur="500"/>
                                        <p:tgtEl>
                                          <p:spTgt spid="54">
                                            <p:txEl>
                                              <p:pRg st="3" end="3"/>
                                            </p:txEl>
                                          </p:spTgt>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54">
                                            <p:txEl>
                                              <p:pRg st="4" end="4"/>
                                            </p:txEl>
                                          </p:spTgt>
                                        </p:tgtEl>
                                        <p:attrNameLst>
                                          <p:attrName>style.visibility</p:attrName>
                                        </p:attrNameLst>
                                      </p:cBhvr>
                                      <p:to>
                                        <p:strVal val="visible"/>
                                      </p:to>
                                    </p:set>
                                    <p:animEffect transition="in" filter="fade">
                                      <p:cBhvr>
                                        <p:cTn id="21" dur="500"/>
                                        <p:tgtEl>
                                          <p:spTgt spid="54">
                                            <p:txEl>
                                              <p:pRg st="4" end="4"/>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 grpId="0" build="p"/>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3">
          <a:extLst>
            <a:ext uri="{FF2B5EF4-FFF2-40B4-BE49-F238E27FC236}">
              <a16:creationId xmlns:a16="http://schemas.microsoft.com/office/drawing/2014/main" id="{493A733A-05E9-AED2-B9B3-AE489A237296}"/>
            </a:ext>
          </a:extLst>
        </p:cNvPr>
        <p:cNvGrpSpPr/>
        <p:nvPr/>
      </p:nvGrpSpPr>
      <p:grpSpPr>
        <a:xfrm>
          <a:off x="0" y="0"/>
          <a:ext cx="0" cy="0"/>
          <a:chOff x="0" y="0"/>
          <a:chExt cx="0" cy="0"/>
        </a:xfrm>
      </p:grpSpPr>
      <p:pic>
        <p:nvPicPr>
          <p:cNvPr id="7" name="Kép 6" descr="https://cdn.discordapp.com/attachments/1468552788152815769/1497189914331185232/image.png?ex=69ec9e44&amp;is=69eb4cc4&amp;hm=89bf0f7cc6e30cc13c35b2a3b339a8a0bd87017ca2a28edf6da36dfb5bd4ffad">
            <a:extLst>
              <a:ext uri="{FF2B5EF4-FFF2-40B4-BE49-F238E27FC236}">
                <a16:creationId xmlns:a16="http://schemas.microsoft.com/office/drawing/2014/main" id="{81D190B9-8BF3-AF02-AB1A-AC21E5E56027}"/>
              </a:ext>
            </a:extLst>
          </p:cNvPr>
          <p:cNvPicPr>
            <a:picLocks noChangeAspect="1"/>
          </p:cNvPicPr>
          <p:nvPr/>
        </p:nvPicPr>
        <p:blipFill>
          <a:blip r:embed="rId3"/>
          <a:stretch>
            <a:fillRect/>
          </a:stretch>
        </p:blipFill>
        <p:spPr>
          <a:xfrm>
            <a:off x="368467" y="381146"/>
            <a:ext cx="8414586" cy="4388728"/>
          </a:xfrm>
          <a:prstGeom prst="rect">
            <a:avLst/>
          </a:prstGeom>
        </p:spPr>
      </p:pic>
    </p:spTree>
    <p:extLst>
      <p:ext uri="{BB962C8B-B14F-4D97-AF65-F5344CB8AC3E}">
        <p14:creationId xmlns:p14="http://schemas.microsoft.com/office/powerpoint/2010/main" val="360306264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3">
          <a:extLst>
            <a:ext uri="{FF2B5EF4-FFF2-40B4-BE49-F238E27FC236}">
              <a16:creationId xmlns:a16="http://schemas.microsoft.com/office/drawing/2014/main" id="{97B43B1E-463B-0AC2-0BD2-53A495FF923D}"/>
            </a:ext>
          </a:extLst>
        </p:cNvPr>
        <p:cNvGrpSpPr/>
        <p:nvPr/>
      </p:nvGrpSpPr>
      <p:grpSpPr>
        <a:xfrm>
          <a:off x="0" y="0"/>
          <a:ext cx="0" cy="0"/>
          <a:chOff x="0" y="0"/>
          <a:chExt cx="0" cy="0"/>
        </a:xfrm>
      </p:grpSpPr>
      <p:pic>
        <p:nvPicPr>
          <p:cNvPr id="3" name="Kép 2" descr="https://cdn.discordapp.com/attachments/1468552788152815769/1497190019650031708/image.png?ex=69ec9e5d&amp;is=69eb4cdd&amp;hm=ae3c976f53b5c74e323c72d8205b6f7ee4df53bfeec5a41c2f77aa014551b628">
            <a:extLst>
              <a:ext uri="{FF2B5EF4-FFF2-40B4-BE49-F238E27FC236}">
                <a16:creationId xmlns:a16="http://schemas.microsoft.com/office/drawing/2014/main" id="{99CE59A1-07C0-410A-ADB7-ADDAA5727358}"/>
              </a:ext>
            </a:extLst>
          </p:cNvPr>
          <p:cNvPicPr>
            <a:picLocks noChangeAspect="1"/>
          </p:cNvPicPr>
          <p:nvPr/>
        </p:nvPicPr>
        <p:blipFill>
          <a:blip r:embed="rId3"/>
          <a:stretch>
            <a:fillRect/>
          </a:stretch>
        </p:blipFill>
        <p:spPr>
          <a:xfrm>
            <a:off x="413586" y="403705"/>
            <a:ext cx="8316829" cy="4336090"/>
          </a:xfrm>
          <a:prstGeom prst="rect">
            <a:avLst/>
          </a:prstGeom>
        </p:spPr>
      </p:pic>
    </p:spTree>
    <p:extLst>
      <p:ext uri="{BB962C8B-B14F-4D97-AF65-F5344CB8AC3E}">
        <p14:creationId xmlns:p14="http://schemas.microsoft.com/office/powerpoint/2010/main" val="41252178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2035050" y="2215297"/>
            <a:ext cx="5073900" cy="7140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r>
              <a:rPr lang="hu" sz="3600">
                <a:solidFill>
                  <a:srgbClr val="FFFAFA"/>
                </a:solidFill>
                <a:latin typeface="Karla ExtraBold"/>
                <a:ea typeface="Karla ExtraBold"/>
                <a:cs typeface="Karla ExtraBold"/>
                <a:sym typeface="Karla ExtraBold"/>
              </a:rPr>
              <a:t>WHAT IS </a:t>
            </a:r>
            <a:r>
              <a:rPr lang="hu" sz="3600">
                <a:solidFill>
                  <a:srgbClr val="FF6600"/>
                </a:solidFill>
                <a:latin typeface="Karla ExtraBold"/>
                <a:ea typeface="Karla ExtraBold"/>
                <a:cs typeface="Karla ExtraBold"/>
                <a:sym typeface="Karla ExtraBold"/>
              </a:rPr>
              <a:t>CARCOMPS?</a:t>
            </a:r>
            <a:endParaRPr sz="3600">
              <a:solidFill>
                <a:srgbClr val="FF6600"/>
              </a:solidFill>
              <a:latin typeface="Karla ExtraBold"/>
              <a:ea typeface="Karla ExtraBold"/>
              <a:cs typeface="Karla ExtraBold"/>
              <a:sym typeface="Karla ExtraBold"/>
            </a:endParaRPr>
          </a:p>
        </p:txBody>
      </p:sp>
      <p:pic>
        <p:nvPicPr>
          <p:cNvPr id="62" name="Google Shape;62;p14"/>
          <p:cNvPicPr preferRelativeResize="0"/>
          <p:nvPr/>
        </p:nvPicPr>
        <p:blipFill>
          <a:blip r:embed="rId4">
            <a:alphaModFix/>
          </a:blip>
          <a:stretch>
            <a:fillRect/>
          </a:stretch>
        </p:blipFill>
        <p:spPr>
          <a:xfrm>
            <a:off x="131925" y="64200"/>
            <a:ext cx="1011136" cy="1105700"/>
          </a:xfrm>
          <a:prstGeom prst="rect">
            <a:avLst/>
          </a:prstGeom>
          <a:noFill/>
          <a:ln>
            <a:noFill/>
          </a:ln>
          <a:effectLst>
            <a:outerShdw blurRad="57150" dist="19050" dir="5400000" algn="bl" rotWithShape="0">
              <a:srgbClr val="000000">
                <a:alpha val="50000"/>
              </a:srgbClr>
            </a:outerShdw>
          </a:effectLst>
        </p:spPr>
      </p:pic>
    </p:spTree>
  </p:cSld>
  <p:clrMapOvr>
    <a:masterClrMapping/>
  </p:clrMapOvr>
  <p:extLst>
    <p:ext uri="{6950BFC3-D8DA-4A85-94F7-54DA5524770B}">
      <p188:commentRel xmlns:p188="http://schemas.microsoft.com/office/powerpoint/2018/8/main" r:id="rId3"/>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B8254414-9B9F-5E1F-EFA2-9D07A55A695E}"/>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33336F07-6729-EB19-0C16-6F90411523F3}"/>
              </a:ext>
            </a:extLst>
          </p:cNvPr>
          <p:cNvSpPr txBox="1">
            <a:spLocks noGrp="1"/>
          </p:cNvSpPr>
          <p:nvPr>
            <p:ph type="title"/>
          </p:nvPr>
        </p:nvSpPr>
        <p:spPr>
          <a:xfrm>
            <a:off x="2459592" y="2231625"/>
            <a:ext cx="4224815" cy="681343"/>
          </a:xfrm>
          <a:prstGeom prst="rect">
            <a:avLst/>
          </a:prstGeom>
        </p:spPr>
        <p:txBody>
          <a:bodyPr spcFirstLastPara="1" wrap="square" lIns="91425" tIns="91425" rIns="91425" bIns="91425" anchor="t" anchorCtr="0">
            <a:noAutofit/>
          </a:bodyPr>
          <a:lstStyle/>
          <a:p>
            <a:r>
              <a:rPr lang="hu" sz="3600" dirty="0">
                <a:solidFill>
                  <a:schemeClr val="bg1"/>
                </a:solidFill>
                <a:latin typeface="Karla ExtraBold"/>
                <a:ea typeface="Karla ExtraBold"/>
                <a:cs typeface="Karla ExtraBold"/>
              </a:rPr>
              <a:t>WHY </a:t>
            </a:r>
            <a:r>
              <a:rPr lang="hu" sz="3600" dirty="0">
                <a:solidFill>
                  <a:srgbClr val="FF6600"/>
                </a:solidFill>
                <a:latin typeface="Karla ExtraBold"/>
                <a:ea typeface="Karla ExtraBold"/>
                <a:cs typeface="Karla ExtraBold"/>
              </a:rPr>
              <a:t>CARCOMPS?</a:t>
            </a:r>
          </a:p>
        </p:txBody>
      </p:sp>
      <p:pic>
        <p:nvPicPr>
          <p:cNvPr id="62" name="Google Shape;62;p14">
            <a:extLst>
              <a:ext uri="{FF2B5EF4-FFF2-40B4-BE49-F238E27FC236}">
                <a16:creationId xmlns:a16="http://schemas.microsoft.com/office/drawing/2014/main" id="{D1C5D170-5A21-3256-B08F-41DD120A1015}"/>
              </a:ext>
            </a:extLst>
          </p:cNvPr>
          <p:cNvPicPr preferRelativeResize="0"/>
          <p:nvPr/>
        </p:nvPicPr>
        <p:blipFill>
          <a:blip r:embed="rId4">
            <a:alphaModFix/>
          </a:blip>
          <a:stretch>
            <a:fillRect/>
          </a:stretch>
        </p:blipFill>
        <p:spPr>
          <a:xfrm>
            <a:off x="131925" y="64200"/>
            <a:ext cx="1011136" cy="11057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34625388"/>
      </p:ext>
    </p:extLst>
  </p:cSld>
  <p:clrMapOvr>
    <a:masterClrMapping/>
  </p:clrMapOvr>
  <p:extLst>
    <p:ext uri="{6950BFC3-D8DA-4A85-94F7-54DA5524770B}">
      <p188:commentRel xmlns:p188="http://schemas.microsoft.com/office/powerpoint/2018/8/main" r:id="rId3"/>
    </p:ext>
  </p:extLs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B1821D61-3DF3-C637-4FE8-3BB9B9B7C428}"/>
            </a:ext>
          </a:extLst>
        </p:cNvPr>
        <p:cNvGrpSpPr/>
        <p:nvPr/>
      </p:nvGrpSpPr>
      <p:grpSpPr>
        <a:xfrm>
          <a:off x="0" y="0"/>
          <a:ext cx="0" cy="0"/>
          <a:chOff x="0" y="0"/>
          <a:chExt cx="0" cy="0"/>
        </a:xfrm>
      </p:grpSpPr>
      <p:pic>
        <p:nvPicPr>
          <p:cNvPr id="62" name="Google Shape;62;p14">
            <a:extLst>
              <a:ext uri="{FF2B5EF4-FFF2-40B4-BE49-F238E27FC236}">
                <a16:creationId xmlns:a16="http://schemas.microsoft.com/office/drawing/2014/main" id="{13ACCB06-21B0-B7AE-45E7-FDC558ECC9D1}"/>
              </a:ext>
            </a:extLst>
          </p:cNvPr>
          <p:cNvPicPr preferRelativeResize="0"/>
          <p:nvPr/>
        </p:nvPicPr>
        <p:blipFill>
          <a:blip r:embed="rId3">
            <a:alphaModFix/>
          </a:blip>
          <a:stretch>
            <a:fillRect/>
          </a:stretch>
        </p:blipFill>
        <p:spPr>
          <a:xfrm>
            <a:off x="131925" y="64200"/>
            <a:ext cx="1011136" cy="1105700"/>
          </a:xfrm>
          <a:prstGeom prst="rect">
            <a:avLst/>
          </a:prstGeom>
          <a:noFill/>
          <a:ln>
            <a:noFill/>
          </a:ln>
          <a:effectLst>
            <a:outerShdw blurRad="57150" dist="19050" dir="5400000" algn="bl" rotWithShape="0">
              <a:srgbClr val="000000">
                <a:alpha val="50000"/>
              </a:srgbClr>
            </a:outerShdw>
          </a:effectLst>
        </p:spPr>
      </p:pic>
      <p:sp>
        <p:nvSpPr>
          <p:cNvPr id="5" name="Google Shape;60;p14">
            <a:extLst>
              <a:ext uri="{FF2B5EF4-FFF2-40B4-BE49-F238E27FC236}">
                <a16:creationId xmlns:a16="http://schemas.microsoft.com/office/drawing/2014/main" id="{F7A2C2E2-4E8B-8B4A-7F3B-FE207B2CCE4A}"/>
              </a:ext>
            </a:extLst>
          </p:cNvPr>
          <p:cNvSpPr txBox="1">
            <a:spLocks noGrp="1"/>
          </p:cNvSpPr>
          <p:nvPr>
            <p:ph type="title"/>
          </p:nvPr>
        </p:nvSpPr>
        <p:spPr>
          <a:xfrm>
            <a:off x="1243115" y="2231625"/>
            <a:ext cx="6657768" cy="681343"/>
          </a:xfrm>
          <a:prstGeom prst="rect">
            <a:avLst/>
          </a:prstGeom>
        </p:spPr>
        <p:txBody>
          <a:bodyPr spcFirstLastPara="1" wrap="square" lIns="91425" tIns="91425" rIns="91425" bIns="91425" anchor="t" anchorCtr="0">
            <a:noAutofit/>
          </a:bodyPr>
          <a:lstStyle/>
          <a:p>
            <a:r>
              <a:rPr lang="hu" sz="3600" dirty="0">
                <a:solidFill>
                  <a:schemeClr val="bg1"/>
                </a:solidFill>
                <a:latin typeface="Karla ExtraBold"/>
                <a:ea typeface="Karla ExtraBold"/>
                <a:cs typeface="Karla ExtraBold"/>
              </a:rPr>
              <a:t>HOW WE BUILT </a:t>
            </a:r>
            <a:r>
              <a:rPr lang="hu" sz="3600" dirty="0">
                <a:solidFill>
                  <a:srgbClr val="FF6600"/>
                </a:solidFill>
                <a:latin typeface="Karla ExtraBold"/>
                <a:ea typeface="Karla ExtraBold"/>
                <a:cs typeface="Karla ExtraBold"/>
              </a:rPr>
              <a:t>CARCOMPS?</a:t>
            </a:r>
          </a:p>
        </p:txBody>
      </p:sp>
    </p:spTree>
    <p:extLst>
      <p:ext uri="{BB962C8B-B14F-4D97-AF65-F5344CB8AC3E}">
        <p14:creationId xmlns:p14="http://schemas.microsoft.com/office/powerpoint/2010/main" val="7393400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90E7DED5-1BCE-C019-4BEE-9D2C939FCEBE}"/>
            </a:ext>
          </a:extLst>
        </p:cNvPr>
        <p:cNvGrpSpPr/>
        <p:nvPr/>
      </p:nvGrpSpPr>
      <p:grpSpPr>
        <a:xfrm>
          <a:off x="0" y="0"/>
          <a:ext cx="0" cy="0"/>
          <a:chOff x="0" y="0"/>
          <a:chExt cx="0" cy="0"/>
        </a:xfrm>
      </p:grpSpPr>
      <p:pic>
        <p:nvPicPr>
          <p:cNvPr id="62" name="Google Shape;62;p14">
            <a:extLst>
              <a:ext uri="{FF2B5EF4-FFF2-40B4-BE49-F238E27FC236}">
                <a16:creationId xmlns:a16="http://schemas.microsoft.com/office/drawing/2014/main" id="{09205E4F-DD94-0846-7B84-CDB6C6618FCA}"/>
              </a:ext>
            </a:extLst>
          </p:cNvPr>
          <p:cNvPicPr preferRelativeResize="0"/>
          <p:nvPr/>
        </p:nvPicPr>
        <p:blipFill>
          <a:blip r:embed="rId4">
            <a:alphaModFix/>
          </a:blip>
          <a:stretch>
            <a:fillRect/>
          </a:stretch>
        </p:blipFill>
        <p:spPr>
          <a:xfrm>
            <a:off x="131925" y="64200"/>
            <a:ext cx="1011136" cy="1105700"/>
          </a:xfrm>
          <a:prstGeom prst="rect">
            <a:avLst/>
          </a:prstGeom>
          <a:noFill/>
          <a:ln>
            <a:noFill/>
          </a:ln>
          <a:effectLst>
            <a:outerShdw blurRad="57150" dist="19050" dir="5400000" algn="bl" rotWithShape="0">
              <a:srgbClr val="000000">
                <a:alpha val="50000"/>
              </a:srgbClr>
            </a:outerShdw>
          </a:effectLst>
        </p:spPr>
      </p:pic>
      <p:sp>
        <p:nvSpPr>
          <p:cNvPr id="8" name="Téglalap: lekerekített 7">
            <a:extLst>
              <a:ext uri="{FF2B5EF4-FFF2-40B4-BE49-F238E27FC236}">
                <a16:creationId xmlns:a16="http://schemas.microsoft.com/office/drawing/2014/main" id="{5D734516-25A3-E763-D53C-6B7AB26C26DB}"/>
              </a:ext>
            </a:extLst>
          </p:cNvPr>
          <p:cNvSpPr/>
          <p:nvPr/>
        </p:nvSpPr>
        <p:spPr>
          <a:xfrm>
            <a:off x="498022" y="1389970"/>
            <a:ext cx="2398258" cy="2816678"/>
          </a:xfrm>
          <a:prstGeom prst="roundRect">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2" name="Szövegdoboz 1">
            <a:extLst>
              <a:ext uri="{FF2B5EF4-FFF2-40B4-BE49-F238E27FC236}">
                <a16:creationId xmlns:a16="http://schemas.microsoft.com/office/drawing/2014/main" id="{F0F9CF7C-A4BA-EB18-CA3A-0F3530C89FB8}"/>
              </a:ext>
            </a:extLst>
          </p:cNvPr>
          <p:cNvSpPr txBox="1"/>
          <p:nvPr/>
        </p:nvSpPr>
        <p:spPr>
          <a:xfrm>
            <a:off x="718457" y="2449286"/>
            <a:ext cx="1959430" cy="705321"/>
          </a:xfrm>
          <a:prstGeom prst="rect">
            <a:avLst/>
          </a:prstGeom>
          <a:noFill/>
          <a:ln>
            <a:noFill/>
          </a:ln>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lnSpc>
                <a:spcPts val="3136"/>
              </a:lnSpc>
            </a:pPr>
            <a:r>
              <a:rPr lang="hu-HU" sz="2400" b="1" dirty="0">
                <a:solidFill>
                  <a:schemeClr val="bg1"/>
                </a:solidFill>
                <a:latin typeface="Karla"/>
              </a:rPr>
              <a:t>DATABASE</a:t>
            </a:r>
            <a:endParaRPr lang="hu-HU" sz="2400" b="0" i="0" dirty="0">
              <a:solidFill>
                <a:schemeClr val="bg1"/>
              </a:solidFill>
              <a:latin typeface="Karla"/>
            </a:endParaRPr>
          </a:p>
          <a:p>
            <a:pPr algn="ctr"/>
            <a:endParaRPr lang="hu-HU"/>
          </a:p>
        </p:txBody>
      </p:sp>
    </p:spTree>
    <p:extLst>
      <p:ext uri="{BB962C8B-B14F-4D97-AF65-F5344CB8AC3E}">
        <p14:creationId xmlns:p14="http://schemas.microsoft.com/office/powerpoint/2010/main" val="110821826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8"/>
                                        </p:tgtEl>
                                        <p:attrNameLst>
                                          <p:attrName>style.visibility</p:attrName>
                                        </p:attrNameLst>
                                      </p:cBhvr>
                                      <p:to>
                                        <p:strVal val="visible"/>
                                      </p:to>
                                    </p:set>
                                    <p:animEffect transition="in" filter="fade">
                                      <p:cBhvr>
                                        <p:cTn id="7" dur="500"/>
                                        <p:tgtEl>
                                          <p:spTgt spid="8"/>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2"/>
                                        </p:tgtEl>
                                        <p:attrNameLst>
                                          <p:attrName>style.visibility</p:attrName>
                                        </p:attrNameLst>
                                      </p:cBhvr>
                                      <p:to>
                                        <p:strVal val="visible"/>
                                      </p:to>
                                    </p:set>
                                    <p:animEffect transition="in" filter="fade">
                                      <p:cBhvr>
                                        <p:cTn id="10"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animBg="1"/>
      <p:bldP spid="2" grpId="0"/>
    </p:bldLst>
  </p:timing>
  <p:extLst>
    <p:ext uri="{6950BFC3-D8DA-4A85-94F7-54DA5524770B}">
      <p188:commentRel xmlns:p188="http://schemas.microsoft.com/office/powerpoint/2018/8/main" r:id="rId3"/>
    </p:ext>
  </p:extLs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FEA2D125-014B-EFD1-9848-35032693FC11}"/>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40824C62-D706-0BEC-5C24-CC454C56432C}"/>
              </a:ext>
            </a:extLst>
          </p:cNvPr>
          <p:cNvSpPr txBox="1">
            <a:spLocks noGrp="1"/>
          </p:cNvSpPr>
          <p:nvPr>
            <p:ph type="title"/>
          </p:nvPr>
        </p:nvSpPr>
        <p:spPr>
          <a:xfrm>
            <a:off x="3194378" y="272196"/>
            <a:ext cx="2747080" cy="681343"/>
          </a:xfrm>
          <a:prstGeom prst="rect">
            <a:avLst/>
          </a:prstGeom>
        </p:spPr>
        <p:txBody>
          <a:bodyPr spcFirstLastPara="1" wrap="square" lIns="91425" tIns="91425" rIns="91425" bIns="91425" anchor="t" anchorCtr="0">
            <a:noAutofit/>
          </a:bodyPr>
          <a:lstStyle/>
          <a:p>
            <a:r>
              <a:rPr lang="hu" sz="3600" dirty="0">
                <a:solidFill>
                  <a:schemeClr val="bg1"/>
                </a:solidFill>
                <a:latin typeface="Karla ExtraBold"/>
                <a:ea typeface="Karla ExtraBold"/>
                <a:cs typeface="Karla ExtraBold"/>
              </a:rPr>
              <a:t>DATABASE</a:t>
            </a:r>
          </a:p>
        </p:txBody>
      </p:sp>
      <p:pic>
        <p:nvPicPr>
          <p:cNvPr id="62" name="Google Shape;62;p14">
            <a:extLst>
              <a:ext uri="{FF2B5EF4-FFF2-40B4-BE49-F238E27FC236}">
                <a16:creationId xmlns:a16="http://schemas.microsoft.com/office/drawing/2014/main" id="{515843BE-2A40-AFD0-0331-5DC97424792C}"/>
              </a:ext>
            </a:extLst>
          </p:cNvPr>
          <p:cNvPicPr preferRelativeResize="0"/>
          <p:nvPr/>
        </p:nvPicPr>
        <p:blipFill>
          <a:blip r:embed="rId4">
            <a:alphaModFix/>
          </a:blip>
          <a:stretch>
            <a:fillRect/>
          </a:stretch>
        </p:blipFill>
        <p:spPr>
          <a:xfrm>
            <a:off x="131925" y="64200"/>
            <a:ext cx="1011136" cy="1105700"/>
          </a:xfrm>
          <a:prstGeom prst="rect">
            <a:avLst/>
          </a:prstGeom>
          <a:noFill/>
          <a:ln>
            <a:noFill/>
          </a:ln>
          <a:effectLst>
            <a:outerShdw blurRad="57150" dist="19050" dir="5400000" algn="bl" rotWithShape="0">
              <a:srgbClr val="000000">
                <a:alpha val="50000"/>
              </a:srgbClr>
            </a:outerShdw>
          </a:effectLst>
        </p:spPr>
      </p:pic>
      <p:grpSp>
        <p:nvGrpSpPr>
          <p:cNvPr id="4" name="Csoportba foglalás 3">
            <a:extLst>
              <a:ext uri="{FF2B5EF4-FFF2-40B4-BE49-F238E27FC236}">
                <a16:creationId xmlns:a16="http://schemas.microsoft.com/office/drawing/2014/main" id="{AAB4F307-CC45-C800-2DE3-5FDA8918778A}"/>
              </a:ext>
            </a:extLst>
          </p:cNvPr>
          <p:cNvGrpSpPr/>
          <p:nvPr/>
        </p:nvGrpSpPr>
        <p:grpSpPr>
          <a:xfrm>
            <a:off x="2790144" y="1779813"/>
            <a:ext cx="3571875" cy="1581830"/>
            <a:chOff x="2790144" y="2571749"/>
            <a:chExt cx="3571875" cy="1581830"/>
          </a:xfrm>
        </p:grpSpPr>
        <p:sp>
          <p:nvSpPr>
            <p:cNvPr id="2" name="Téglalap: lekerekített 1">
              <a:extLst>
                <a:ext uri="{FF2B5EF4-FFF2-40B4-BE49-F238E27FC236}">
                  <a16:creationId xmlns:a16="http://schemas.microsoft.com/office/drawing/2014/main" id="{42BAA1D0-7E2A-D560-A5F2-D124482BAFAF}"/>
                </a:ext>
              </a:extLst>
            </p:cNvPr>
            <p:cNvSpPr/>
            <p:nvPr/>
          </p:nvSpPr>
          <p:spPr>
            <a:xfrm>
              <a:off x="2790144" y="2571749"/>
              <a:ext cx="3571875" cy="1581830"/>
            </a:xfrm>
            <a:prstGeom prst="roundRect">
              <a:avLst/>
            </a:prstGeom>
            <a:solidFill>
              <a:srgbClr val="FF6600"/>
            </a:solidFill>
            <a:ln>
              <a:solidFill>
                <a:srgbClr val="FF66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3" name="Google Shape;60;p14">
              <a:extLst>
                <a:ext uri="{FF2B5EF4-FFF2-40B4-BE49-F238E27FC236}">
                  <a16:creationId xmlns:a16="http://schemas.microsoft.com/office/drawing/2014/main" id="{66EBC7D8-C218-5386-E1DB-752F6D6DBF3D}"/>
                </a:ext>
              </a:extLst>
            </p:cNvPr>
            <p:cNvSpPr txBox="1">
              <a:spLocks/>
            </p:cNvSpPr>
            <p:nvPr/>
          </p:nvSpPr>
          <p:spPr>
            <a:xfrm>
              <a:off x="3199821" y="2792239"/>
              <a:ext cx="2755244" cy="1146707"/>
            </a:xfrm>
            <a:prstGeom prst="rect">
              <a:avLst/>
            </a:prstGeom>
            <a:solidFill>
              <a:srgbClr val="FF6600"/>
            </a:solidFill>
            <a:ln>
              <a:solidFill>
                <a:srgbClr val="FF6600"/>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hu" sz="2400" b="1" dirty="0">
                  <a:solidFill>
                    <a:schemeClr val="bg1"/>
                  </a:solidFill>
                  <a:latin typeface="Karla"/>
                </a:rPr>
                <a:t>Design &amp; </a:t>
              </a:r>
              <a:r>
                <a:rPr lang="hu" sz="2400" b="1" err="1">
                  <a:solidFill>
                    <a:schemeClr val="bg1"/>
                  </a:solidFill>
                  <a:latin typeface="Karla"/>
                </a:rPr>
                <a:t>Implement</a:t>
              </a:r>
              <a:r>
                <a:rPr lang="hu" sz="2400" b="1" dirty="0">
                  <a:solidFill>
                    <a:schemeClr val="bg1"/>
                  </a:solidFill>
                  <a:latin typeface="Karla"/>
                </a:rPr>
                <a:t> </a:t>
              </a:r>
              <a:r>
                <a:rPr lang="hu" sz="2400" b="1" err="1">
                  <a:solidFill>
                    <a:schemeClr val="bg1"/>
                  </a:solidFill>
                  <a:latin typeface="Karla"/>
                </a:rPr>
                <a:t>table</a:t>
              </a:r>
              <a:r>
                <a:rPr lang="hu" sz="2400" b="1" dirty="0">
                  <a:solidFill>
                    <a:schemeClr val="bg1"/>
                  </a:solidFill>
                  <a:latin typeface="Karla"/>
                </a:rPr>
                <a:t> </a:t>
              </a:r>
              <a:r>
                <a:rPr lang="hu" sz="2400" b="1" err="1">
                  <a:solidFill>
                    <a:schemeClr val="bg1"/>
                  </a:solidFill>
                  <a:latin typeface="Karla"/>
                </a:rPr>
                <a:t>structure</a:t>
              </a:r>
              <a:br>
                <a:rPr lang="en-US" dirty="0"/>
              </a:br>
              <a:endParaRPr lang="hu-HU">
                <a:solidFill>
                  <a:schemeClr val="bg1"/>
                </a:solidFill>
              </a:endParaRPr>
            </a:p>
          </p:txBody>
        </p:sp>
      </p:grpSp>
      <p:pic>
        <p:nvPicPr>
          <p:cNvPr id="6" name="Kép 5" descr="MySQL logo PNG transparent image download, size: 394x315px">
            <a:extLst>
              <a:ext uri="{FF2B5EF4-FFF2-40B4-BE49-F238E27FC236}">
                <a16:creationId xmlns:a16="http://schemas.microsoft.com/office/drawing/2014/main" id="{76C9DFFA-51FE-4CB7-50DE-502E8893EB71}"/>
              </a:ext>
            </a:extLst>
          </p:cNvPr>
          <p:cNvPicPr>
            <a:picLocks noChangeAspect="1"/>
          </p:cNvPicPr>
          <p:nvPr/>
        </p:nvPicPr>
        <p:blipFill>
          <a:blip r:embed="rId5"/>
          <a:stretch>
            <a:fillRect/>
          </a:stretch>
        </p:blipFill>
        <p:spPr>
          <a:xfrm>
            <a:off x="5943601" y="3459087"/>
            <a:ext cx="1902277" cy="1507367"/>
          </a:xfrm>
          <a:prstGeom prst="rect">
            <a:avLst/>
          </a:prstGeom>
        </p:spPr>
      </p:pic>
      <p:pic>
        <p:nvPicPr>
          <p:cNvPr id="7" name="Kép 6" descr="MongoDB or SQL Databases: Which One Should You Use?">
            <a:extLst>
              <a:ext uri="{FF2B5EF4-FFF2-40B4-BE49-F238E27FC236}">
                <a16:creationId xmlns:a16="http://schemas.microsoft.com/office/drawing/2014/main" id="{6B794546-EFC3-58A7-5636-2E6EF89E2F43}"/>
              </a:ext>
            </a:extLst>
          </p:cNvPr>
          <p:cNvPicPr>
            <a:picLocks noChangeAspect="1"/>
          </p:cNvPicPr>
          <p:nvPr/>
        </p:nvPicPr>
        <p:blipFill>
          <a:blip r:embed="rId6"/>
          <a:stretch>
            <a:fillRect/>
          </a:stretch>
        </p:blipFill>
        <p:spPr>
          <a:xfrm>
            <a:off x="449036" y="3941254"/>
            <a:ext cx="2743197" cy="543034"/>
          </a:xfrm>
          <a:prstGeom prst="rect">
            <a:avLst/>
          </a:prstGeom>
        </p:spPr>
      </p:pic>
    </p:spTree>
    <p:extLst>
      <p:ext uri="{BB962C8B-B14F-4D97-AF65-F5344CB8AC3E}">
        <p14:creationId xmlns:p14="http://schemas.microsoft.com/office/powerpoint/2010/main" val="1870193981"/>
      </p:ext>
    </p:extLst>
  </p:cSld>
  <p:clrMapOvr>
    <a:masterClrMapping/>
  </p:clrMapOvr>
  <p:extLst>
    <p:ext uri="{6950BFC3-D8DA-4A85-94F7-54DA5524770B}">
      <p188:commentRel xmlns:p188="http://schemas.microsoft.com/office/powerpoint/2018/8/main" r:id="rId3"/>
    </p:ext>
  </p:extLs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E317B28D-516E-315B-E9DF-6205AB71C024}"/>
            </a:ext>
          </a:extLst>
        </p:cNvPr>
        <p:cNvGrpSpPr/>
        <p:nvPr/>
      </p:nvGrpSpPr>
      <p:grpSpPr>
        <a:xfrm>
          <a:off x="0" y="0"/>
          <a:ext cx="0" cy="0"/>
          <a:chOff x="0" y="0"/>
          <a:chExt cx="0" cy="0"/>
        </a:xfrm>
      </p:grpSpPr>
      <p:pic>
        <p:nvPicPr>
          <p:cNvPr id="2" name="Kép 1" descr="A képen szöveg, képernyőkép, Grafikai szoftver, Multimédiás szoftver látható&#10;&#10;Lehet, hogy az AI által létrehozott tartalom helytelen.">
            <a:extLst>
              <a:ext uri="{FF2B5EF4-FFF2-40B4-BE49-F238E27FC236}">
                <a16:creationId xmlns:a16="http://schemas.microsoft.com/office/drawing/2014/main" id="{A7D15733-088F-C09A-3478-31C491DC1246}"/>
              </a:ext>
            </a:extLst>
          </p:cNvPr>
          <p:cNvPicPr>
            <a:picLocks noChangeAspect="1"/>
          </p:cNvPicPr>
          <p:nvPr/>
        </p:nvPicPr>
        <p:blipFill>
          <a:blip r:embed="rId4"/>
          <a:stretch>
            <a:fillRect/>
          </a:stretch>
        </p:blipFill>
        <p:spPr>
          <a:xfrm>
            <a:off x="498022" y="369957"/>
            <a:ext cx="8139792" cy="4403586"/>
          </a:xfrm>
          <a:prstGeom prst="rect">
            <a:avLst/>
          </a:prstGeom>
        </p:spPr>
      </p:pic>
    </p:spTree>
    <p:extLst>
      <p:ext uri="{BB962C8B-B14F-4D97-AF65-F5344CB8AC3E}">
        <p14:creationId xmlns:p14="http://schemas.microsoft.com/office/powerpoint/2010/main" val="2370246127"/>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B952A8F4-8E06-40BE-1165-B54B171E9861}"/>
            </a:ext>
          </a:extLst>
        </p:cNvPr>
        <p:cNvGrpSpPr/>
        <p:nvPr/>
      </p:nvGrpSpPr>
      <p:grpSpPr>
        <a:xfrm>
          <a:off x="0" y="0"/>
          <a:ext cx="0" cy="0"/>
          <a:chOff x="0" y="0"/>
          <a:chExt cx="0" cy="0"/>
        </a:xfrm>
      </p:grpSpPr>
      <p:pic>
        <p:nvPicPr>
          <p:cNvPr id="3" name="Kép 2" descr="A képen szöveg, képernyőkép, tervezés látható&#10;&#10;Lehet, hogy az AI által létrehozott tartalom helytelen.">
            <a:extLst>
              <a:ext uri="{FF2B5EF4-FFF2-40B4-BE49-F238E27FC236}">
                <a16:creationId xmlns:a16="http://schemas.microsoft.com/office/drawing/2014/main" id="{07D9977F-4DB3-4184-475F-6F23A61FF4B8}"/>
              </a:ext>
            </a:extLst>
          </p:cNvPr>
          <p:cNvPicPr>
            <a:picLocks noChangeAspect="1"/>
          </p:cNvPicPr>
          <p:nvPr/>
        </p:nvPicPr>
        <p:blipFill>
          <a:blip r:embed="rId4"/>
          <a:stretch>
            <a:fillRect/>
          </a:stretch>
        </p:blipFill>
        <p:spPr>
          <a:xfrm>
            <a:off x="1944423" y="0"/>
            <a:ext cx="5255153" cy="5143500"/>
          </a:xfrm>
          <a:prstGeom prst="rect">
            <a:avLst/>
          </a:prstGeom>
        </p:spPr>
      </p:pic>
    </p:spTree>
    <p:extLst>
      <p:ext uri="{BB962C8B-B14F-4D97-AF65-F5344CB8AC3E}">
        <p14:creationId xmlns:p14="http://schemas.microsoft.com/office/powerpoint/2010/main" val="2725235536"/>
      </p:ext>
    </p:extLst>
  </p:cSld>
  <p:clrMapOvr>
    <a:masterClrMapping/>
  </p:clrMapOvr>
  <p:extLst>
    <p:ext uri="{6950BFC3-D8DA-4A85-94F7-54DA5524770B}">
      <p188:commentRel xmlns:p188="http://schemas.microsoft.com/office/powerpoint/2018/8/main" r:id="rId3"/>
    </p:ext>
  </p:extLs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2276BB1E-7C97-6674-1437-05DF59864EA7}"/>
            </a:ext>
          </a:extLst>
        </p:cNvPr>
        <p:cNvGrpSpPr/>
        <p:nvPr/>
      </p:nvGrpSpPr>
      <p:grpSpPr>
        <a:xfrm>
          <a:off x="0" y="0"/>
          <a:ext cx="0" cy="0"/>
          <a:chOff x="0" y="0"/>
          <a:chExt cx="0" cy="0"/>
        </a:xfrm>
      </p:grpSpPr>
      <p:pic>
        <p:nvPicPr>
          <p:cNvPr id="62" name="Google Shape;62;p14">
            <a:extLst>
              <a:ext uri="{FF2B5EF4-FFF2-40B4-BE49-F238E27FC236}">
                <a16:creationId xmlns:a16="http://schemas.microsoft.com/office/drawing/2014/main" id="{FCA2F1DC-D8A9-58B7-C491-05136C0851E8}"/>
              </a:ext>
            </a:extLst>
          </p:cNvPr>
          <p:cNvPicPr preferRelativeResize="0"/>
          <p:nvPr/>
        </p:nvPicPr>
        <p:blipFill>
          <a:blip r:embed="rId4">
            <a:alphaModFix/>
          </a:blip>
          <a:stretch>
            <a:fillRect/>
          </a:stretch>
        </p:blipFill>
        <p:spPr>
          <a:xfrm>
            <a:off x="131925" y="64200"/>
            <a:ext cx="1011136" cy="1105700"/>
          </a:xfrm>
          <a:prstGeom prst="rect">
            <a:avLst/>
          </a:prstGeom>
          <a:noFill/>
          <a:ln>
            <a:noFill/>
          </a:ln>
          <a:effectLst>
            <a:outerShdw blurRad="57150" dist="19050" dir="5400000" algn="bl" rotWithShape="0">
              <a:srgbClr val="000000">
                <a:alpha val="50000"/>
              </a:srgbClr>
            </a:outerShdw>
          </a:effectLst>
        </p:spPr>
      </p:pic>
      <p:sp>
        <p:nvSpPr>
          <p:cNvPr id="8" name="Téglalap: lekerekített 7">
            <a:extLst>
              <a:ext uri="{FF2B5EF4-FFF2-40B4-BE49-F238E27FC236}">
                <a16:creationId xmlns:a16="http://schemas.microsoft.com/office/drawing/2014/main" id="{D5774390-C32D-1CDA-881F-8D01722ACFA9}"/>
              </a:ext>
            </a:extLst>
          </p:cNvPr>
          <p:cNvSpPr/>
          <p:nvPr/>
        </p:nvSpPr>
        <p:spPr>
          <a:xfrm>
            <a:off x="498022" y="1389970"/>
            <a:ext cx="2398258" cy="2816678"/>
          </a:xfrm>
          <a:prstGeom prst="roundRect">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9" name="Téglalap: lekerekített 8">
            <a:extLst>
              <a:ext uri="{FF2B5EF4-FFF2-40B4-BE49-F238E27FC236}">
                <a16:creationId xmlns:a16="http://schemas.microsoft.com/office/drawing/2014/main" id="{0DD6B8F6-7B2D-2AD1-6246-16D03AFDA41D}"/>
              </a:ext>
            </a:extLst>
          </p:cNvPr>
          <p:cNvSpPr/>
          <p:nvPr/>
        </p:nvSpPr>
        <p:spPr>
          <a:xfrm>
            <a:off x="3257551" y="1389970"/>
            <a:ext cx="2398258" cy="2816678"/>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18" name="Kép 17" descr="MySQL logo PNG transparent image download, size: 394x315px">
            <a:extLst>
              <a:ext uri="{FF2B5EF4-FFF2-40B4-BE49-F238E27FC236}">
                <a16:creationId xmlns:a16="http://schemas.microsoft.com/office/drawing/2014/main" id="{C1845AF3-C8E5-ABAA-1274-45FCB659148C}"/>
              </a:ext>
            </a:extLst>
          </p:cNvPr>
          <p:cNvPicPr>
            <a:picLocks noChangeAspect="1"/>
          </p:cNvPicPr>
          <p:nvPr/>
        </p:nvPicPr>
        <p:blipFill>
          <a:blip r:embed="rId5"/>
          <a:stretch>
            <a:fillRect/>
          </a:stretch>
        </p:blipFill>
        <p:spPr>
          <a:xfrm>
            <a:off x="742951" y="2046666"/>
            <a:ext cx="1902277" cy="1507367"/>
          </a:xfrm>
          <a:prstGeom prst="rect">
            <a:avLst/>
          </a:prstGeom>
        </p:spPr>
      </p:pic>
      <p:sp>
        <p:nvSpPr>
          <p:cNvPr id="2" name="Szövegdoboz 1">
            <a:extLst>
              <a:ext uri="{FF2B5EF4-FFF2-40B4-BE49-F238E27FC236}">
                <a16:creationId xmlns:a16="http://schemas.microsoft.com/office/drawing/2014/main" id="{61270124-26D8-414B-2449-543A9C8808BB}"/>
              </a:ext>
            </a:extLst>
          </p:cNvPr>
          <p:cNvSpPr txBox="1"/>
          <p:nvPr/>
        </p:nvSpPr>
        <p:spPr>
          <a:xfrm>
            <a:off x="840921" y="4376057"/>
            <a:ext cx="172266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hu-HU" sz="2400" b="1" i="0" u="none" strike="noStrike" dirty="0">
                <a:solidFill>
                  <a:srgbClr val="FFFFFF"/>
                </a:solidFill>
                <a:latin typeface="Karla"/>
                <a:ea typeface="Karla"/>
                <a:cs typeface="Karla"/>
              </a:rPr>
              <a:t>DATABASE</a:t>
            </a:r>
          </a:p>
        </p:txBody>
      </p:sp>
      <p:sp>
        <p:nvSpPr>
          <p:cNvPr id="3" name="Szövegdoboz 2">
            <a:extLst>
              <a:ext uri="{FF2B5EF4-FFF2-40B4-BE49-F238E27FC236}">
                <a16:creationId xmlns:a16="http://schemas.microsoft.com/office/drawing/2014/main" id="{C035BCFE-94E2-99A7-7D6B-348483A03F89}"/>
              </a:ext>
            </a:extLst>
          </p:cNvPr>
          <p:cNvSpPr txBox="1"/>
          <p:nvPr/>
        </p:nvSpPr>
        <p:spPr>
          <a:xfrm>
            <a:off x="3641272" y="2563586"/>
            <a:ext cx="164102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hu-HU" sz="2400" b="1" dirty="0">
                <a:solidFill>
                  <a:srgbClr val="FFFFFF"/>
                </a:solidFill>
                <a:latin typeface="Karla"/>
              </a:rPr>
              <a:t>BACKEND</a:t>
            </a:r>
          </a:p>
        </p:txBody>
      </p:sp>
      <p:cxnSp>
        <p:nvCxnSpPr>
          <p:cNvPr id="5" name="Egyenes összekötő nyíllal 4">
            <a:extLst>
              <a:ext uri="{FF2B5EF4-FFF2-40B4-BE49-F238E27FC236}">
                <a16:creationId xmlns:a16="http://schemas.microsoft.com/office/drawing/2014/main" id="{6F29FB2E-38C9-B058-5CF9-DE9B3D8FB8C9}"/>
              </a:ext>
            </a:extLst>
          </p:cNvPr>
          <p:cNvCxnSpPr/>
          <p:nvPr/>
        </p:nvCxnSpPr>
        <p:spPr>
          <a:xfrm>
            <a:off x="2545215" y="2835047"/>
            <a:ext cx="704169" cy="10205"/>
          </a:xfrm>
          <a:prstGeom prst="straightConnector1">
            <a:avLst/>
          </a:prstGeom>
          <a:ln w="28575">
            <a:solidFill>
              <a:srgbClr val="FF66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4071134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fade">
                                      <p:cBhvr>
                                        <p:cTn id="7" dur="500"/>
                                        <p:tgtEl>
                                          <p:spTgt spid="9"/>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animBg="1"/>
      <p:bldP spid="3" grpId="0"/>
    </p:bldLst>
  </p:timing>
  <p:extLst>
    <p:ext uri="{6950BFC3-D8DA-4A85-94F7-54DA5524770B}">
      <p188:commentRel xmlns:p188="http://schemas.microsoft.com/office/powerpoint/2018/8/main" r:id="rId3"/>
    </p:ext>
  </p:extLs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292862DF-552D-3C9D-9393-7D0EE87592AA}"/>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A753057C-A952-CDA8-4B8D-EE9EEBC54CEA}"/>
              </a:ext>
            </a:extLst>
          </p:cNvPr>
          <p:cNvSpPr txBox="1">
            <a:spLocks noGrp="1"/>
          </p:cNvSpPr>
          <p:nvPr>
            <p:ph type="title"/>
          </p:nvPr>
        </p:nvSpPr>
        <p:spPr>
          <a:xfrm>
            <a:off x="3333171" y="272196"/>
            <a:ext cx="2747080" cy="681343"/>
          </a:xfrm>
          <a:prstGeom prst="rect">
            <a:avLst/>
          </a:prstGeom>
        </p:spPr>
        <p:txBody>
          <a:bodyPr spcFirstLastPara="1" wrap="square" lIns="91425" tIns="91425" rIns="91425" bIns="91425" anchor="t" anchorCtr="0">
            <a:noAutofit/>
          </a:bodyPr>
          <a:lstStyle/>
          <a:p>
            <a:r>
              <a:rPr lang="hu" sz="3600" dirty="0">
                <a:solidFill>
                  <a:schemeClr val="bg1"/>
                </a:solidFill>
                <a:latin typeface="Karla ExtraBold"/>
                <a:ea typeface="Karla ExtraBold"/>
                <a:cs typeface="Karla ExtraBold"/>
              </a:rPr>
              <a:t>BACKEND</a:t>
            </a:r>
          </a:p>
        </p:txBody>
      </p:sp>
      <p:pic>
        <p:nvPicPr>
          <p:cNvPr id="62" name="Google Shape;62;p14">
            <a:extLst>
              <a:ext uri="{FF2B5EF4-FFF2-40B4-BE49-F238E27FC236}">
                <a16:creationId xmlns:a16="http://schemas.microsoft.com/office/drawing/2014/main" id="{92551D69-08B5-32EB-D9FB-1F0CF7A777D0}"/>
              </a:ext>
            </a:extLst>
          </p:cNvPr>
          <p:cNvPicPr preferRelativeResize="0"/>
          <p:nvPr/>
        </p:nvPicPr>
        <p:blipFill>
          <a:blip r:embed="rId4">
            <a:alphaModFix/>
          </a:blip>
          <a:stretch>
            <a:fillRect/>
          </a:stretch>
        </p:blipFill>
        <p:spPr>
          <a:xfrm>
            <a:off x="131925" y="64200"/>
            <a:ext cx="1011136" cy="1105700"/>
          </a:xfrm>
          <a:prstGeom prst="rect">
            <a:avLst/>
          </a:prstGeom>
          <a:noFill/>
          <a:ln>
            <a:noFill/>
          </a:ln>
          <a:effectLst>
            <a:outerShdw blurRad="57150" dist="19050" dir="5400000" algn="bl" rotWithShape="0">
              <a:srgbClr val="000000">
                <a:alpha val="50000"/>
              </a:srgbClr>
            </a:outerShdw>
          </a:effectLst>
        </p:spPr>
      </p:pic>
      <p:grpSp>
        <p:nvGrpSpPr>
          <p:cNvPr id="7" name="Csoportba foglalás 6">
            <a:extLst>
              <a:ext uri="{FF2B5EF4-FFF2-40B4-BE49-F238E27FC236}">
                <a16:creationId xmlns:a16="http://schemas.microsoft.com/office/drawing/2014/main" id="{ADC75E2E-F380-EE68-A202-6E65A91C9784}"/>
              </a:ext>
            </a:extLst>
          </p:cNvPr>
          <p:cNvGrpSpPr/>
          <p:nvPr/>
        </p:nvGrpSpPr>
        <p:grpSpPr>
          <a:xfrm>
            <a:off x="819830" y="1605642"/>
            <a:ext cx="3571875" cy="1581830"/>
            <a:chOff x="819830" y="1605642"/>
            <a:chExt cx="3571875" cy="1581830"/>
          </a:xfrm>
        </p:grpSpPr>
        <p:sp>
          <p:nvSpPr>
            <p:cNvPr id="4" name="Téglalap: lekerekített 3">
              <a:extLst>
                <a:ext uri="{FF2B5EF4-FFF2-40B4-BE49-F238E27FC236}">
                  <a16:creationId xmlns:a16="http://schemas.microsoft.com/office/drawing/2014/main" id="{564C701A-C854-0E7B-AF6A-DDD1476C901E}"/>
                </a:ext>
              </a:extLst>
            </p:cNvPr>
            <p:cNvSpPr/>
            <p:nvPr/>
          </p:nvSpPr>
          <p:spPr>
            <a:xfrm>
              <a:off x="819830" y="1605642"/>
              <a:ext cx="3571875" cy="1581830"/>
            </a:xfrm>
            <a:prstGeom prst="round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hu-HU"/>
            </a:p>
          </p:txBody>
        </p:sp>
        <p:sp>
          <p:nvSpPr>
            <p:cNvPr id="3" name="Google Shape;60;p14">
              <a:extLst>
                <a:ext uri="{FF2B5EF4-FFF2-40B4-BE49-F238E27FC236}">
                  <a16:creationId xmlns:a16="http://schemas.microsoft.com/office/drawing/2014/main" id="{8AE0ADEC-AFFF-0739-3D82-7EE3B4D11924}"/>
                </a:ext>
              </a:extLst>
            </p:cNvPr>
            <p:cNvSpPr txBox="1">
              <a:spLocks/>
            </p:cNvSpPr>
            <p:nvPr/>
          </p:nvSpPr>
          <p:spPr>
            <a:xfrm>
              <a:off x="1232228" y="1967646"/>
              <a:ext cx="2747080" cy="860957"/>
            </a:xfrm>
            <a:prstGeom prst="rect">
              <a:avLst/>
            </a:prstGeom>
            <a:solidFill>
              <a:srgbClr val="FFC000"/>
            </a:solidFill>
            <a:ln>
              <a:solidFill>
                <a:srgbClr val="FFC000"/>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hu" sz="2400" b="1" dirty="0">
                  <a:solidFill>
                    <a:schemeClr val="bg1"/>
                  </a:solidFill>
                  <a:latin typeface="Karla"/>
                  <a:ea typeface="Calibri"/>
                  <a:cs typeface="Calibri"/>
                </a:rPr>
                <a:t>Server </a:t>
              </a:r>
              <a:r>
                <a:rPr lang="hu" sz="2400" b="1" err="1">
                  <a:solidFill>
                    <a:schemeClr val="bg1"/>
                  </a:solidFill>
                  <a:latin typeface="Karla"/>
                  <a:ea typeface="Calibri"/>
                  <a:cs typeface="Calibri"/>
                </a:rPr>
                <a:t>Handling</a:t>
              </a:r>
              <a:r>
                <a:rPr lang="hu" sz="2400" b="1" dirty="0">
                  <a:solidFill>
                    <a:schemeClr val="bg1"/>
                  </a:solidFill>
                  <a:latin typeface="Karla"/>
                  <a:ea typeface="Calibri"/>
                  <a:cs typeface="Calibri"/>
                </a:rPr>
                <a:t> &amp; </a:t>
              </a:r>
              <a:r>
                <a:rPr lang="hu" sz="2400" b="1" err="1">
                  <a:solidFill>
                    <a:schemeClr val="bg1"/>
                  </a:solidFill>
                  <a:latin typeface="Karla"/>
                  <a:ea typeface="Calibri"/>
                  <a:cs typeface="Calibri"/>
                </a:rPr>
                <a:t>Deployment</a:t>
              </a:r>
              <a:endParaRPr lang="hu-HU">
                <a:solidFill>
                  <a:schemeClr val="bg1"/>
                </a:solidFill>
              </a:endParaRPr>
            </a:p>
          </p:txBody>
        </p:sp>
      </p:grpSp>
      <p:grpSp>
        <p:nvGrpSpPr>
          <p:cNvPr id="6" name="Csoportba foglalás 5">
            <a:extLst>
              <a:ext uri="{FF2B5EF4-FFF2-40B4-BE49-F238E27FC236}">
                <a16:creationId xmlns:a16="http://schemas.microsoft.com/office/drawing/2014/main" id="{E108268C-D7A2-01A4-4431-F65DE1C43840}"/>
              </a:ext>
            </a:extLst>
          </p:cNvPr>
          <p:cNvGrpSpPr/>
          <p:nvPr/>
        </p:nvGrpSpPr>
        <p:grpSpPr>
          <a:xfrm>
            <a:off x="5008108" y="1605642"/>
            <a:ext cx="3571875" cy="1581830"/>
            <a:chOff x="4395787" y="1605642"/>
            <a:chExt cx="3571875" cy="1581830"/>
          </a:xfrm>
        </p:grpSpPr>
        <p:sp>
          <p:nvSpPr>
            <p:cNvPr id="5" name="Téglalap: lekerekített 4">
              <a:extLst>
                <a:ext uri="{FF2B5EF4-FFF2-40B4-BE49-F238E27FC236}">
                  <a16:creationId xmlns:a16="http://schemas.microsoft.com/office/drawing/2014/main" id="{783170D1-1145-0BAB-AF40-5826ED4E7C7D}"/>
                </a:ext>
              </a:extLst>
            </p:cNvPr>
            <p:cNvSpPr/>
            <p:nvPr/>
          </p:nvSpPr>
          <p:spPr>
            <a:xfrm>
              <a:off x="4395787" y="1605642"/>
              <a:ext cx="3571875" cy="1581830"/>
            </a:xfrm>
            <a:prstGeom prst="roundRect">
              <a:avLst/>
            </a:prstGeom>
            <a:solidFill>
              <a:srgbClr val="FFC000"/>
            </a:solidFill>
            <a:ln>
              <a:solidFill>
                <a:srgbClr val="FFC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lt1"/>
                  </a:solidFill>
                  <a:latin typeface="+mn-lt"/>
                  <a:ea typeface="+mn-ea"/>
                  <a:cs typeface="+mn-cs"/>
                  <a:sym typeface="Arial"/>
                </a:defRPr>
              </a:lvl9pPr>
            </a:lstStyle>
            <a:p>
              <a:pPr algn="ctr"/>
              <a:endParaRPr lang="hu-HU"/>
            </a:p>
          </p:txBody>
        </p:sp>
        <p:sp>
          <p:nvSpPr>
            <p:cNvPr id="2" name="Google Shape;60;p14">
              <a:extLst>
                <a:ext uri="{FF2B5EF4-FFF2-40B4-BE49-F238E27FC236}">
                  <a16:creationId xmlns:a16="http://schemas.microsoft.com/office/drawing/2014/main" id="{73183014-A8E5-C929-FA42-6A5FCF569E6D}"/>
                </a:ext>
              </a:extLst>
            </p:cNvPr>
            <p:cNvSpPr txBox="1">
              <a:spLocks/>
            </p:cNvSpPr>
            <p:nvPr/>
          </p:nvSpPr>
          <p:spPr>
            <a:xfrm>
              <a:off x="5093936" y="2139096"/>
              <a:ext cx="2183745" cy="518057"/>
            </a:xfrm>
            <a:prstGeom prst="rect">
              <a:avLst/>
            </a:prstGeom>
            <a:solidFill>
              <a:srgbClr val="FFC000"/>
            </a:solidFill>
            <a:ln>
              <a:solidFill>
                <a:srgbClr val="FFC000"/>
              </a:solid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hu" sz="2400" b="1" dirty="0" err="1">
                  <a:solidFill>
                    <a:schemeClr val="bg1"/>
                  </a:solidFill>
                  <a:latin typeface="Karla"/>
                  <a:ea typeface="Calibri"/>
                  <a:cs typeface="Calibri"/>
                </a:rPr>
                <a:t>RESTful</a:t>
              </a:r>
              <a:r>
                <a:rPr lang="hu" sz="2400" b="1" dirty="0">
                  <a:solidFill>
                    <a:schemeClr val="bg1"/>
                  </a:solidFill>
                  <a:latin typeface="Karla"/>
                  <a:ea typeface="Calibri"/>
                  <a:cs typeface="Calibri"/>
                </a:rPr>
                <a:t> </a:t>
              </a:r>
              <a:r>
                <a:rPr lang="hu" sz="2400" b="1" dirty="0" err="1">
                  <a:solidFill>
                    <a:schemeClr val="bg1"/>
                  </a:solidFill>
                  <a:latin typeface="Karla"/>
                  <a:ea typeface="Calibri"/>
                  <a:cs typeface="Calibri"/>
                </a:rPr>
                <a:t>APIs</a:t>
              </a:r>
              <a:endParaRPr lang="hu-HU" dirty="0" err="1">
                <a:solidFill>
                  <a:schemeClr val="bg1"/>
                </a:solidFill>
              </a:endParaRPr>
            </a:p>
          </p:txBody>
        </p:sp>
      </p:grpSp>
      <p:cxnSp>
        <p:nvCxnSpPr>
          <p:cNvPr id="8" name="Egyenes összekötő nyíllal 7">
            <a:extLst>
              <a:ext uri="{FF2B5EF4-FFF2-40B4-BE49-F238E27FC236}">
                <a16:creationId xmlns:a16="http://schemas.microsoft.com/office/drawing/2014/main" id="{77823EA5-929E-9303-7D72-AA3CE7830099}"/>
              </a:ext>
            </a:extLst>
          </p:cNvPr>
          <p:cNvCxnSpPr/>
          <p:nvPr/>
        </p:nvCxnSpPr>
        <p:spPr>
          <a:xfrm>
            <a:off x="4357687" y="2377847"/>
            <a:ext cx="704169" cy="10205"/>
          </a:xfrm>
          <a:prstGeom prst="straightConnector1">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pic>
        <p:nvPicPr>
          <p:cNvPr id="10" name="Kép 9" descr="A képen szöveg, Grafika, Betűtípus, Grafikus tervezés látható&#10;&#10;Lehet, hogy az AI által létrehozott tartalom helytelen.">
            <a:extLst>
              <a:ext uri="{FF2B5EF4-FFF2-40B4-BE49-F238E27FC236}">
                <a16:creationId xmlns:a16="http://schemas.microsoft.com/office/drawing/2014/main" id="{BA42884C-6685-16AD-6798-AC96F04A41A0}"/>
              </a:ext>
            </a:extLst>
          </p:cNvPr>
          <p:cNvPicPr>
            <a:picLocks noChangeAspect="1"/>
          </p:cNvPicPr>
          <p:nvPr/>
        </p:nvPicPr>
        <p:blipFill>
          <a:blip r:embed="rId5"/>
          <a:stretch>
            <a:fillRect/>
          </a:stretch>
        </p:blipFill>
        <p:spPr>
          <a:xfrm>
            <a:off x="1077685" y="3558671"/>
            <a:ext cx="3061608" cy="973463"/>
          </a:xfrm>
          <a:prstGeom prst="rect">
            <a:avLst/>
          </a:prstGeom>
        </p:spPr>
      </p:pic>
      <p:pic>
        <p:nvPicPr>
          <p:cNvPr id="12" name="Kép 11" descr="Java Logo, symbol, meaning, history, PNG, brand">
            <a:extLst>
              <a:ext uri="{FF2B5EF4-FFF2-40B4-BE49-F238E27FC236}">
                <a16:creationId xmlns:a16="http://schemas.microsoft.com/office/drawing/2014/main" id="{CAEB54DC-B7CD-1294-2CD6-14D62B8B8A1D}"/>
              </a:ext>
            </a:extLst>
          </p:cNvPr>
          <p:cNvPicPr>
            <a:picLocks noChangeAspect="1"/>
          </p:cNvPicPr>
          <p:nvPr/>
        </p:nvPicPr>
        <p:blipFill>
          <a:blip r:embed="rId6"/>
          <a:stretch>
            <a:fillRect/>
          </a:stretch>
        </p:blipFill>
        <p:spPr>
          <a:xfrm>
            <a:off x="5004706" y="3408590"/>
            <a:ext cx="2212521" cy="1281792"/>
          </a:xfrm>
          <a:prstGeom prst="rect">
            <a:avLst/>
          </a:prstGeom>
        </p:spPr>
      </p:pic>
      <p:pic>
        <p:nvPicPr>
          <p:cNvPr id="14" name="Kép 13" descr="Google API Logo - LogoDix">
            <a:extLst>
              <a:ext uri="{FF2B5EF4-FFF2-40B4-BE49-F238E27FC236}">
                <a16:creationId xmlns:a16="http://schemas.microsoft.com/office/drawing/2014/main" id="{1E0BE1F9-5022-E19A-2BDF-0A1C40DD908B}"/>
              </a:ext>
            </a:extLst>
          </p:cNvPr>
          <p:cNvPicPr>
            <a:picLocks noChangeAspect="1"/>
          </p:cNvPicPr>
          <p:nvPr/>
        </p:nvPicPr>
        <p:blipFill>
          <a:blip r:embed="rId7"/>
          <a:stretch>
            <a:fillRect/>
          </a:stretch>
        </p:blipFill>
        <p:spPr>
          <a:xfrm>
            <a:off x="6702878" y="3167743"/>
            <a:ext cx="1738993" cy="1755321"/>
          </a:xfrm>
          <a:prstGeom prst="rect">
            <a:avLst/>
          </a:prstGeom>
        </p:spPr>
      </p:pic>
    </p:spTree>
    <p:extLst>
      <p:ext uri="{BB962C8B-B14F-4D97-AF65-F5344CB8AC3E}">
        <p14:creationId xmlns:p14="http://schemas.microsoft.com/office/powerpoint/2010/main" val="2318217982"/>
      </p:ext>
    </p:extLst>
  </p:cSld>
  <p:clrMapOvr>
    <a:masterClrMapping/>
  </p:clrMapOvr>
  <p:extLst>
    <p:ext uri="{6950BFC3-D8DA-4A85-94F7-54DA5524770B}">
      <p188:commentRel xmlns:p188="http://schemas.microsoft.com/office/powerpoint/2018/8/main" r:id="rId3"/>
    </p:ext>
  </p:extLs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368C15B2-5C46-31C9-D85D-546E06CBAD3F}"/>
            </a:ext>
          </a:extLst>
        </p:cNvPr>
        <p:cNvGrpSpPr/>
        <p:nvPr/>
      </p:nvGrpSpPr>
      <p:grpSpPr>
        <a:xfrm>
          <a:off x="0" y="0"/>
          <a:ext cx="0" cy="0"/>
          <a:chOff x="0" y="0"/>
          <a:chExt cx="0" cy="0"/>
        </a:xfrm>
      </p:grpSpPr>
      <p:pic>
        <p:nvPicPr>
          <p:cNvPr id="62" name="Google Shape;62;p14">
            <a:extLst>
              <a:ext uri="{FF2B5EF4-FFF2-40B4-BE49-F238E27FC236}">
                <a16:creationId xmlns:a16="http://schemas.microsoft.com/office/drawing/2014/main" id="{474BA94C-4C89-7301-3A9C-9EFFC162390F}"/>
              </a:ext>
            </a:extLst>
          </p:cNvPr>
          <p:cNvPicPr preferRelativeResize="0"/>
          <p:nvPr/>
        </p:nvPicPr>
        <p:blipFill>
          <a:blip r:embed="rId4">
            <a:alphaModFix/>
          </a:blip>
          <a:stretch>
            <a:fillRect/>
          </a:stretch>
        </p:blipFill>
        <p:spPr>
          <a:xfrm>
            <a:off x="131925" y="64200"/>
            <a:ext cx="1011136" cy="1105700"/>
          </a:xfrm>
          <a:prstGeom prst="rect">
            <a:avLst/>
          </a:prstGeom>
          <a:noFill/>
          <a:ln>
            <a:noFill/>
          </a:ln>
          <a:effectLst>
            <a:outerShdw blurRad="57150" dist="19050" dir="5400000" algn="bl" rotWithShape="0">
              <a:srgbClr val="000000">
                <a:alpha val="50000"/>
              </a:srgbClr>
            </a:outerShdw>
          </a:effectLst>
        </p:spPr>
      </p:pic>
      <p:sp>
        <p:nvSpPr>
          <p:cNvPr id="7" name="Téglalap: lekerekített 6">
            <a:extLst>
              <a:ext uri="{FF2B5EF4-FFF2-40B4-BE49-F238E27FC236}">
                <a16:creationId xmlns:a16="http://schemas.microsoft.com/office/drawing/2014/main" id="{A793C90A-3837-F994-57AC-50FED5A41F15}"/>
              </a:ext>
            </a:extLst>
          </p:cNvPr>
          <p:cNvSpPr/>
          <p:nvPr/>
        </p:nvSpPr>
        <p:spPr>
          <a:xfrm>
            <a:off x="6017079" y="1389970"/>
            <a:ext cx="2398258" cy="2816678"/>
          </a:xfrm>
          <a:prstGeom prst="roundRect">
            <a:avLst/>
          </a:prstGeom>
          <a:solidFill>
            <a:srgbClr val="696EEA"/>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8" name="Téglalap: lekerekített 7">
            <a:extLst>
              <a:ext uri="{FF2B5EF4-FFF2-40B4-BE49-F238E27FC236}">
                <a16:creationId xmlns:a16="http://schemas.microsoft.com/office/drawing/2014/main" id="{A9316E22-F3B4-84E4-0EA3-7DF265F163D6}"/>
              </a:ext>
            </a:extLst>
          </p:cNvPr>
          <p:cNvSpPr/>
          <p:nvPr/>
        </p:nvSpPr>
        <p:spPr>
          <a:xfrm>
            <a:off x="498022" y="1389970"/>
            <a:ext cx="2398258" cy="2816678"/>
          </a:xfrm>
          <a:prstGeom prst="roundRect">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9" name="Téglalap: lekerekített 8">
            <a:extLst>
              <a:ext uri="{FF2B5EF4-FFF2-40B4-BE49-F238E27FC236}">
                <a16:creationId xmlns:a16="http://schemas.microsoft.com/office/drawing/2014/main" id="{1829BA94-634F-5D49-BECC-167DC96815A7}"/>
              </a:ext>
            </a:extLst>
          </p:cNvPr>
          <p:cNvSpPr/>
          <p:nvPr/>
        </p:nvSpPr>
        <p:spPr>
          <a:xfrm>
            <a:off x="3257551" y="1389970"/>
            <a:ext cx="2398258" cy="2816678"/>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15" name="Kép 14" descr="A képen szöveg, Grafika, Betűtípus, Grafikus tervezés látható&#10;&#10;Lehet, hogy az AI által létrehozott tartalom helytelen.">
            <a:extLst>
              <a:ext uri="{FF2B5EF4-FFF2-40B4-BE49-F238E27FC236}">
                <a16:creationId xmlns:a16="http://schemas.microsoft.com/office/drawing/2014/main" id="{20D2F897-082E-F054-15DB-E2C2CCC4B907}"/>
              </a:ext>
            </a:extLst>
          </p:cNvPr>
          <p:cNvPicPr>
            <a:picLocks noChangeAspect="1"/>
          </p:cNvPicPr>
          <p:nvPr/>
        </p:nvPicPr>
        <p:blipFill>
          <a:blip r:embed="rId5"/>
          <a:stretch>
            <a:fillRect/>
          </a:stretch>
        </p:blipFill>
        <p:spPr>
          <a:xfrm>
            <a:off x="3347357" y="1648228"/>
            <a:ext cx="2228851" cy="720371"/>
          </a:xfrm>
          <a:prstGeom prst="rect">
            <a:avLst/>
          </a:prstGeom>
        </p:spPr>
      </p:pic>
      <p:pic>
        <p:nvPicPr>
          <p:cNvPr id="16" name="Kép 15" descr="Java Logo, symbol, meaning, history, PNG, brand">
            <a:extLst>
              <a:ext uri="{FF2B5EF4-FFF2-40B4-BE49-F238E27FC236}">
                <a16:creationId xmlns:a16="http://schemas.microsoft.com/office/drawing/2014/main" id="{A9EA09B2-4BCA-131F-6FA0-05418A420668}"/>
              </a:ext>
            </a:extLst>
          </p:cNvPr>
          <p:cNvPicPr>
            <a:picLocks noChangeAspect="1"/>
          </p:cNvPicPr>
          <p:nvPr/>
        </p:nvPicPr>
        <p:blipFill>
          <a:blip r:embed="rId6"/>
          <a:stretch>
            <a:fillRect/>
          </a:stretch>
        </p:blipFill>
        <p:spPr>
          <a:xfrm>
            <a:off x="3353372" y="2689489"/>
            <a:ext cx="2212521" cy="1281792"/>
          </a:xfrm>
          <a:prstGeom prst="rect">
            <a:avLst/>
          </a:prstGeom>
        </p:spPr>
      </p:pic>
      <p:pic>
        <p:nvPicPr>
          <p:cNvPr id="18" name="Kép 17" descr="MySQL logo PNG transparent image download, size: 394x315px">
            <a:extLst>
              <a:ext uri="{FF2B5EF4-FFF2-40B4-BE49-F238E27FC236}">
                <a16:creationId xmlns:a16="http://schemas.microsoft.com/office/drawing/2014/main" id="{9829F039-EEC1-5AAE-A139-CCBF73BD2EA3}"/>
              </a:ext>
            </a:extLst>
          </p:cNvPr>
          <p:cNvPicPr>
            <a:picLocks noChangeAspect="1"/>
          </p:cNvPicPr>
          <p:nvPr/>
        </p:nvPicPr>
        <p:blipFill>
          <a:blip r:embed="rId7"/>
          <a:stretch>
            <a:fillRect/>
          </a:stretch>
        </p:blipFill>
        <p:spPr>
          <a:xfrm>
            <a:off x="742951" y="2046666"/>
            <a:ext cx="1902277" cy="1507367"/>
          </a:xfrm>
          <a:prstGeom prst="rect">
            <a:avLst/>
          </a:prstGeom>
        </p:spPr>
      </p:pic>
      <p:sp>
        <p:nvSpPr>
          <p:cNvPr id="3" name="Szövegdoboz 2">
            <a:extLst>
              <a:ext uri="{FF2B5EF4-FFF2-40B4-BE49-F238E27FC236}">
                <a16:creationId xmlns:a16="http://schemas.microsoft.com/office/drawing/2014/main" id="{C344A707-B703-F22A-F9B8-A895FA0D5B67}"/>
              </a:ext>
            </a:extLst>
          </p:cNvPr>
          <p:cNvSpPr txBox="1"/>
          <p:nvPr/>
        </p:nvSpPr>
        <p:spPr>
          <a:xfrm>
            <a:off x="3747408" y="4367893"/>
            <a:ext cx="164102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hu-HU" sz="2400" b="1" dirty="0">
                <a:solidFill>
                  <a:srgbClr val="FFFFFF"/>
                </a:solidFill>
                <a:latin typeface="Karla"/>
              </a:rPr>
              <a:t>BACKEND</a:t>
            </a:r>
          </a:p>
        </p:txBody>
      </p:sp>
      <p:sp>
        <p:nvSpPr>
          <p:cNvPr id="5" name="Szövegdoboz 4">
            <a:extLst>
              <a:ext uri="{FF2B5EF4-FFF2-40B4-BE49-F238E27FC236}">
                <a16:creationId xmlns:a16="http://schemas.microsoft.com/office/drawing/2014/main" id="{B42BF7B3-62FD-A95E-EA36-62BCECF7639E}"/>
              </a:ext>
            </a:extLst>
          </p:cNvPr>
          <p:cNvSpPr txBox="1"/>
          <p:nvPr/>
        </p:nvSpPr>
        <p:spPr>
          <a:xfrm>
            <a:off x="816429" y="4367893"/>
            <a:ext cx="17634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hu-HU" sz="2400" b="1" dirty="0">
                <a:solidFill>
                  <a:srgbClr val="FFFFFF"/>
                </a:solidFill>
                <a:latin typeface="Karla"/>
              </a:rPr>
              <a:t>DATABASE</a:t>
            </a:r>
          </a:p>
        </p:txBody>
      </p:sp>
      <p:sp>
        <p:nvSpPr>
          <p:cNvPr id="13" name="Szövegdoboz 12">
            <a:extLst>
              <a:ext uri="{FF2B5EF4-FFF2-40B4-BE49-F238E27FC236}">
                <a16:creationId xmlns:a16="http://schemas.microsoft.com/office/drawing/2014/main" id="{D4497457-84F7-AEA1-1466-71C8201F13FF}"/>
              </a:ext>
            </a:extLst>
          </p:cNvPr>
          <p:cNvSpPr txBox="1"/>
          <p:nvPr/>
        </p:nvSpPr>
        <p:spPr>
          <a:xfrm>
            <a:off x="6310993" y="2563586"/>
            <a:ext cx="1812470"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hu-HU" sz="2400" b="1" dirty="0">
                <a:solidFill>
                  <a:srgbClr val="FFFFFF"/>
                </a:solidFill>
                <a:latin typeface="Karla"/>
              </a:rPr>
              <a:t>FRONTEND</a:t>
            </a:r>
          </a:p>
        </p:txBody>
      </p:sp>
      <p:cxnSp>
        <p:nvCxnSpPr>
          <p:cNvPr id="4" name="Egyenes összekötő nyíllal 3">
            <a:extLst>
              <a:ext uri="{FF2B5EF4-FFF2-40B4-BE49-F238E27FC236}">
                <a16:creationId xmlns:a16="http://schemas.microsoft.com/office/drawing/2014/main" id="{C451978A-1F38-4579-7622-C69D87E67D67}"/>
              </a:ext>
            </a:extLst>
          </p:cNvPr>
          <p:cNvCxnSpPr/>
          <p:nvPr/>
        </p:nvCxnSpPr>
        <p:spPr>
          <a:xfrm>
            <a:off x="5566002" y="2835047"/>
            <a:ext cx="451077" cy="10205"/>
          </a:xfrm>
          <a:prstGeom prst="straightConnector1">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cxnSp>
        <p:nvCxnSpPr>
          <p:cNvPr id="6" name="Egyenes összekötő nyíllal 5">
            <a:extLst>
              <a:ext uri="{FF2B5EF4-FFF2-40B4-BE49-F238E27FC236}">
                <a16:creationId xmlns:a16="http://schemas.microsoft.com/office/drawing/2014/main" id="{B5B0888C-ADD9-977D-A084-8AFC3D3F4748}"/>
              </a:ext>
            </a:extLst>
          </p:cNvPr>
          <p:cNvCxnSpPr>
            <a:cxnSpLocks/>
          </p:cNvCxnSpPr>
          <p:nvPr/>
        </p:nvCxnSpPr>
        <p:spPr>
          <a:xfrm>
            <a:off x="2806473" y="2835047"/>
            <a:ext cx="451077" cy="10205"/>
          </a:xfrm>
          <a:prstGeom prst="straightConnector1">
            <a:avLst/>
          </a:prstGeom>
          <a:ln w="28575">
            <a:solidFill>
              <a:srgbClr val="FF66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2068075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animEffect transition="in" filter="fade">
                                      <p:cBhvr>
                                        <p:cTn id="7" dur="500"/>
                                        <p:tgtEl>
                                          <p:spTgt spid="7"/>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13"/>
                                        </p:tgtEl>
                                        <p:attrNameLst>
                                          <p:attrName>style.visibility</p:attrName>
                                        </p:attrNameLst>
                                      </p:cBhvr>
                                      <p:to>
                                        <p:strVal val="visible"/>
                                      </p:to>
                                    </p:set>
                                    <p:animEffect transition="in" filter="fade">
                                      <p:cBhvr>
                                        <p:cTn id="10"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13" grpId="0"/>
    </p:bldLst>
  </p:timing>
  <p:extLst>
    <p:ext uri="{6950BFC3-D8DA-4A85-94F7-54DA5524770B}">
      <p188:commentRel xmlns:p188="http://schemas.microsoft.com/office/powerpoint/2018/8/main" r:id="rId3"/>
    </p:ext>
  </p:extLs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F4A843C8-DFE2-F4BF-FF50-FEC43DF4A2D4}"/>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393258CC-8F38-5796-F818-B0B78C70E983}"/>
              </a:ext>
            </a:extLst>
          </p:cNvPr>
          <p:cNvSpPr txBox="1">
            <a:spLocks noGrp="1"/>
          </p:cNvSpPr>
          <p:nvPr>
            <p:ph type="title"/>
          </p:nvPr>
        </p:nvSpPr>
        <p:spPr>
          <a:xfrm>
            <a:off x="3194378" y="272196"/>
            <a:ext cx="2747080" cy="681343"/>
          </a:xfrm>
          <a:prstGeom prst="rect">
            <a:avLst/>
          </a:prstGeom>
        </p:spPr>
        <p:txBody>
          <a:bodyPr spcFirstLastPara="1" wrap="square" lIns="91425" tIns="91425" rIns="91425" bIns="91425" anchor="t" anchorCtr="0">
            <a:noAutofit/>
          </a:bodyPr>
          <a:lstStyle/>
          <a:p>
            <a:r>
              <a:rPr lang="hu" sz="3600" dirty="0">
                <a:solidFill>
                  <a:schemeClr val="bg1"/>
                </a:solidFill>
                <a:latin typeface="Karla ExtraBold"/>
                <a:ea typeface="Karla ExtraBold"/>
              </a:rPr>
              <a:t>FRONTEND</a:t>
            </a:r>
            <a:endParaRPr lang="hu" sz="3600" dirty="0">
              <a:solidFill>
                <a:schemeClr val="bg1"/>
              </a:solidFill>
              <a:latin typeface="Karla ExtraBold"/>
              <a:ea typeface="Karla ExtraBold"/>
              <a:cs typeface="Karla ExtraBold"/>
            </a:endParaRPr>
          </a:p>
        </p:txBody>
      </p:sp>
      <p:pic>
        <p:nvPicPr>
          <p:cNvPr id="62" name="Google Shape;62;p14">
            <a:extLst>
              <a:ext uri="{FF2B5EF4-FFF2-40B4-BE49-F238E27FC236}">
                <a16:creationId xmlns:a16="http://schemas.microsoft.com/office/drawing/2014/main" id="{BF3C6933-7575-D434-004D-C0A4CF6ADA6E}"/>
              </a:ext>
            </a:extLst>
          </p:cNvPr>
          <p:cNvPicPr preferRelativeResize="0"/>
          <p:nvPr/>
        </p:nvPicPr>
        <p:blipFill>
          <a:blip r:embed="rId4">
            <a:alphaModFix/>
          </a:blip>
          <a:stretch>
            <a:fillRect/>
          </a:stretch>
        </p:blipFill>
        <p:spPr>
          <a:xfrm>
            <a:off x="131925" y="64200"/>
            <a:ext cx="1011136" cy="1105700"/>
          </a:xfrm>
          <a:prstGeom prst="rect">
            <a:avLst/>
          </a:prstGeom>
          <a:noFill/>
          <a:ln>
            <a:noFill/>
          </a:ln>
          <a:effectLst>
            <a:outerShdw blurRad="57150" dist="19050" dir="5400000" algn="bl" rotWithShape="0">
              <a:srgbClr val="000000">
                <a:alpha val="50000"/>
              </a:srgbClr>
            </a:outerShdw>
          </a:effectLst>
        </p:spPr>
      </p:pic>
      <p:pic>
        <p:nvPicPr>
          <p:cNvPr id="5" name="Kép 4" descr="Figma Logo PNG Transparent Images">
            <a:extLst>
              <a:ext uri="{FF2B5EF4-FFF2-40B4-BE49-F238E27FC236}">
                <a16:creationId xmlns:a16="http://schemas.microsoft.com/office/drawing/2014/main" id="{6F9FB267-CC89-7B93-7E0F-DBD5A086E648}"/>
              </a:ext>
            </a:extLst>
          </p:cNvPr>
          <p:cNvPicPr>
            <a:picLocks noChangeAspect="1"/>
          </p:cNvPicPr>
          <p:nvPr/>
        </p:nvPicPr>
        <p:blipFill>
          <a:blip r:embed="rId5"/>
          <a:stretch>
            <a:fillRect/>
          </a:stretch>
        </p:blipFill>
        <p:spPr>
          <a:xfrm>
            <a:off x="1673878" y="3359703"/>
            <a:ext cx="1767867" cy="1759704"/>
          </a:xfrm>
          <a:prstGeom prst="rect">
            <a:avLst/>
          </a:prstGeom>
        </p:spPr>
      </p:pic>
      <p:pic>
        <p:nvPicPr>
          <p:cNvPr id="7" name="Kép 6" descr="A képen Színesség, Grafika, háromszög, művészet látható&#10;&#10;Lehet, hogy az AI által létrehozott tartalom helytelen.">
            <a:extLst>
              <a:ext uri="{FF2B5EF4-FFF2-40B4-BE49-F238E27FC236}">
                <a16:creationId xmlns:a16="http://schemas.microsoft.com/office/drawing/2014/main" id="{D062C09F-3146-B774-4D4C-F4340968F5D4}"/>
              </a:ext>
            </a:extLst>
          </p:cNvPr>
          <p:cNvPicPr>
            <a:picLocks noChangeAspect="1"/>
          </p:cNvPicPr>
          <p:nvPr/>
        </p:nvPicPr>
        <p:blipFill>
          <a:blip r:embed="rId6"/>
          <a:stretch>
            <a:fillRect/>
          </a:stretch>
        </p:blipFill>
        <p:spPr>
          <a:xfrm>
            <a:off x="5693495" y="3376427"/>
            <a:ext cx="1785193" cy="1767669"/>
          </a:xfrm>
          <a:prstGeom prst="rect">
            <a:avLst/>
          </a:prstGeom>
        </p:spPr>
      </p:pic>
      <p:grpSp>
        <p:nvGrpSpPr>
          <p:cNvPr id="17" name="Csoportba foglalás 16">
            <a:extLst>
              <a:ext uri="{FF2B5EF4-FFF2-40B4-BE49-F238E27FC236}">
                <a16:creationId xmlns:a16="http://schemas.microsoft.com/office/drawing/2014/main" id="{764E8316-99AD-0185-811D-4C3E57E35962}"/>
              </a:ext>
            </a:extLst>
          </p:cNvPr>
          <p:cNvGrpSpPr/>
          <p:nvPr/>
        </p:nvGrpSpPr>
        <p:grpSpPr>
          <a:xfrm>
            <a:off x="732743" y="1779812"/>
            <a:ext cx="7686674" cy="1581830"/>
            <a:chOff x="749072" y="881741"/>
            <a:chExt cx="7686674" cy="1581830"/>
          </a:xfrm>
        </p:grpSpPr>
        <p:grpSp>
          <p:nvGrpSpPr>
            <p:cNvPr id="12" name="Csoportba foglalás 11">
              <a:extLst>
                <a:ext uri="{FF2B5EF4-FFF2-40B4-BE49-F238E27FC236}">
                  <a16:creationId xmlns:a16="http://schemas.microsoft.com/office/drawing/2014/main" id="{161BA00D-148C-569F-B9A4-3906651E0ACB}"/>
                </a:ext>
              </a:extLst>
            </p:cNvPr>
            <p:cNvGrpSpPr/>
            <p:nvPr/>
          </p:nvGrpSpPr>
          <p:grpSpPr>
            <a:xfrm>
              <a:off x="749072" y="881741"/>
              <a:ext cx="3571875" cy="1581830"/>
              <a:chOff x="749072" y="881741"/>
              <a:chExt cx="3571875" cy="1581830"/>
            </a:xfrm>
          </p:grpSpPr>
          <p:sp>
            <p:nvSpPr>
              <p:cNvPr id="9" name="Téglalap: lekerekített 8">
                <a:extLst>
                  <a:ext uri="{FF2B5EF4-FFF2-40B4-BE49-F238E27FC236}">
                    <a16:creationId xmlns:a16="http://schemas.microsoft.com/office/drawing/2014/main" id="{FBCCA5A3-FCE1-527A-B75F-1BBBA9CE5914}"/>
                  </a:ext>
                </a:extLst>
              </p:cNvPr>
              <p:cNvSpPr/>
              <p:nvPr/>
            </p:nvSpPr>
            <p:spPr>
              <a:xfrm>
                <a:off x="749072" y="881741"/>
                <a:ext cx="3571875" cy="1581830"/>
              </a:xfrm>
              <a:prstGeom prst="roundRect">
                <a:avLst/>
              </a:prstGeom>
              <a:solidFill>
                <a:srgbClr val="696EEA"/>
              </a:solidFill>
              <a:ln>
                <a:solidFill>
                  <a:srgbClr val="696E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4" name="Google Shape;60;p14">
                <a:extLst>
                  <a:ext uri="{FF2B5EF4-FFF2-40B4-BE49-F238E27FC236}">
                    <a16:creationId xmlns:a16="http://schemas.microsoft.com/office/drawing/2014/main" id="{47435EA6-B8B5-4620-3599-84E6C2CCD96A}"/>
                  </a:ext>
                </a:extLst>
              </p:cNvPr>
              <p:cNvSpPr txBox="1">
                <a:spLocks/>
              </p:cNvSpPr>
              <p:nvPr/>
            </p:nvSpPr>
            <p:spPr>
              <a:xfrm>
                <a:off x="1005619" y="1369065"/>
                <a:ext cx="3052743" cy="60448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hu" sz="2400" b="1" err="1">
                    <a:solidFill>
                      <a:schemeClr val="bg1"/>
                    </a:solidFill>
                    <a:latin typeface="Karla"/>
                    <a:ea typeface="Karla ExtraBold"/>
                  </a:rPr>
                  <a:t>Figma</a:t>
                </a:r>
                <a:br>
                  <a:rPr lang="hu" sz="2400" dirty="0">
                    <a:solidFill>
                      <a:schemeClr val="bg1"/>
                    </a:solidFill>
                    <a:latin typeface="Karla"/>
                    <a:ea typeface="Karla ExtraBold"/>
                  </a:rPr>
                </a:br>
                <a:endParaRPr lang="hu" sz="2400">
                  <a:solidFill>
                    <a:schemeClr val="bg1"/>
                  </a:solidFill>
                  <a:latin typeface="Karla"/>
                  <a:ea typeface="Karla ExtraBold"/>
                </a:endParaRPr>
              </a:p>
              <a:p>
                <a:endParaRPr lang="hu" sz="2400" dirty="0">
                  <a:solidFill>
                    <a:schemeClr val="bg1"/>
                  </a:solidFill>
                  <a:latin typeface="Karla"/>
                  <a:ea typeface="Karla ExtraBold"/>
                </a:endParaRPr>
              </a:p>
            </p:txBody>
          </p:sp>
        </p:grpSp>
        <p:grpSp>
          <p:nvGrpSpPr>
            <p:cNvPr id="13" name="Csoportba foglalás 12">
              <a:extLst>
                <a:ext uri="{FF2B5EF4-FFF2-40B4-BE49-F238E27FC236}">
                  <a16:creationId xmlns:a16="http://schemas.microsoft.com/office/drawing/2014/main" id="{E3154378-C4B0-B33A-CC8A-C38997994A82}"/>
                </a:ext>
              </a:extLst>
            </p:cNvPr>
            <p:cNvGrpSpPr/>
            <p:nvPr/>
          </p:nvGrpSpPr>
          <p:grpSpPr>
            <a:xfrm>
              <a:off x="4863871" y="881741"/>
              <a:ext cx="3571875" cy="1581830"/>
              <a:chOff x="749072" y="881741"/>
              <a:chExt cx="3571875" cy="1581830"/>
            </a:xfrm>
          </p:grpSpPr>
          <p:sp>
            <p:nvSpPr>
              <p:cNvPr id="14" name="Téglalap: lekerekített 13">
                <a:extLst>
                  <a:ext uri="{FF2B5EF4-FFF2-40B4-BE49-F238E27FC236}">
                    <a16:creationId xmlns:a16="http://schemas.microsoft.com/office/drawing/2014/main" id="{5B000DE5-3280-42D7-877D-FB039CC4520C}"/>
                  </a:ext>
                </a:extLst>
              </p:cNvPr>
              <p:cNvSpPr/>
              <p:nvPr/>
            </p:nvSpPr>
            <p:spPr>
              <a:xfrm>
                <a:off x="749072" y="881741"/>
                <a:ext cx="3571875" cy="1581830"/>
              </a:xfrm>
              <a:prstGeom prst="roundRect">
                <a:avLst/>
              </a:prstGeom>
              <a:solidFill>
                <a:srgbClr val="696EEA"/>
              </a:solidFill>
              <a:ln>
                <a:solidFill>
                  <a:srgbClr val="696EEA"/>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15" name="Google Shape;60;p14">
                <a:extLst>
                  <a:ext uri="{FF2B5EF4-FFF2-40B4-BE49-F238E27FC236}">
                    <a16:creationId xmlns:a16="http://schemas.microsoft.com/office/drawing/2014/main" id="{A885FF6F-61D7-B733-EEA9-1E1438927268}"/>
                  </a:ext>
                </a:extLst>
              </p:cNvPr>
              <p:cNvSpPr txBox="1">
                <a:spLocks/>
              </p:cNvSpPr>
              <p:nvPr/>
            </p:nvSpPr>
            <p:spPr>
              <a:xfrm>
                <a:off x="989291" y="1222108"/>
                <a:ext cx="3093564" cy="898393"/>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pPr algn="ctr"/>
                <a:r>
                  <a:rPr lang="hu" sz="2400" b="1" err="1">
                    <a:solidFill>
                      <a:schemeClr val="bg1"/>
                    </a:solidFill>
                    <a:latin typeface="Karla"/>
                    <a:ea typeface="Karla ExtraBold"/>
                  </a:rPr>
                  <a:t>Angular</a:t>
                </a:r>
                <a:r>
                  <a:rPr lang="hu" sz="2400" b="1" dirty="0">
                    <a:solidFill>
                      <a:schemeClr val="bg1"/>
                    </a:solidFill>
                    <a:latin typeface="Karla"/>
                    <a:ea typeface="Karla ExtraBold"/>
                  </a:rPr>
                  <a:t> Framework &amp; </a:t>
                </a:r>
                <a:r>
                  <a:rPr lang="hu" sz="2400" b="1" err="1">
                    <a:solidFill>
                      <a:schemeClr val="bg1"/>
                    </a:solidFill>
                    <a:latin typeface="Karla"/>
                    <a:ea typeface="Karla ExtraBold"/>
                  </a:rPr>
                  <a:t>Features</a:t>
                </a:r>
                <a:endParaRPr lang="hu" sz="2400" b="1">
                  <a:solidFill>
                    <a:schemeClr val="bg1"/>
                  </a:solidFill>
                  <a:latin typeface="Karla"/>
                  <a:ea typeface="Karla ExtraBold"/>
                </a:endParaRPr>
              </a:p>
              <a:p>
                <a:endParaRPr lang="hu" sz="2400" dirty="0">
                  <a:solidFill>
                    <a:schemeClr val="bg1"/>
                  </a:solidFill>
                  <a:latin typeface="Karla"/>
                  <a:ea typeface="Karla ExtraBold"/>
                </a:endParaRPr>
              </a:p>
            </p:txBody>
          </p:sp>
        </p:grpSp>
        <p:cxnSp>
          <p:nvCxnSpPr>
            <p:cNvPr id="16" name="Egyenes összekötő nyíllal 15">
              <a:extLst>
                <a:ext uri="{FF2B5EF4-FFF2-40B4-BE49-F238E27FC236}">
                  <a16:creationId xmlns:a16="http://schemas.microsoft.com/office/drawing/2014/main" id="{2CDA9FB3-4A7D-5491-696B-8FBC4A37954E}"/>
                </a:ext>
              </a:extLst>
            </p:cNvPr>
            <p:cNvCxnSpPr/>
            <p:nvPr/>
          </p:nvCxnSpPr>
          <p:spPr>
            <a:xfrm flipH="1" flipV="1">
              <a:off x="4310744" y="1724705"/>
              <a:ext cx="663347" cy="6123"/>
            </a:xfrm>
            <a:prstGeom prst="straightConnector1">
              <a:avLst/>
            </a:prstGeom>
            <a:ln w="28575">
              <a:solidFill>
                <a:srgbClr val="696EEA"/>
              </a:solidFill>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4146262659"/>
      </p:ext>
    </p:extLst>
  </p:cSld>
  <p:clrMapOvr>
    <a:masterClrMapping/>
  </p:clrMapOvr>
  <p:extLst>
    <p:ext uri="{6950BFC3-D8DA-4A85-94F7-54DA5524770B}">
      <p188:commentRel xmlns:p188="http://schemas.microsoft.com/office/powerpoint/2018/8/main" r:id="rId3"/>
    </p:ext>
  </p:extLs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FBE9C0BE-3D9A-D083-1EB3-EFF1DE3E4532}"/>
            </a:ext>
          </a:extLst>
        </p:cNvPr>
        <p:cNvGrpSpPr/>
        <p:nvPr/>
      </p:nvGrpSpPr>
      <p:grpSpPr>
        <a:xfrm>
          <a:off x="0" y="0"/>
          <a:ext cx="0" cy="0"/>
          <a:chOff x="0" y="0"/>
          <a:chExt cx="0" cy="0"/>
        </a:xfrm>
      </p:grpSpPr>
      <p:pic>
        <p:nvPicPr>
          <p:cNvPr id="62" name="Google Shape;62;p14">
            <a:extLst>
              <a:ext uri="{FF2B5EF4-FFF2-40B4-BE49-F238E27FC236}">
                <a16:creationId xmlns:a16="http://schemas.microsoft.com/office/drawing/2014/main" id="{41C37B3B-F5AE-706F-64C5-B6885CFCA738}"/>
              </a:ext>
            </a:extLst>
          </p:cNvPr>
          <p:cNvPicPr preferRelativeResize="0"/>
          <p:nvPr/>
        </p:nvPicPr>
        <p:blipFill>
          <a:blip r:embed="rId4">
            <a:alphaModFix/>
          </a:blip>
          <a:stretch>
            <a:fillRect/>
          </a:stretch>
        </p:blipFill>
        <p:spPr>
          <a:xfrm>
            <a:off x="131925" y="64200"/>
            <a:ext cx="1011136" cy="1105700"/>
          </a:xfrm>
          <a:prstGeom prst="rect">
            <a:avLst/>
          </a:prstGeom>
          <a:noFill/>
          <a:ln>
            <a:noFill/>
          </a:ln>
          <a:effectLst>
            <a:outerShdw blurRad="57150" dist="19050" dir="5400000" algn="bl" rotWithShape="0">
              <a:srgbClr val="000000">
                <a:alpha val="50000"/>
              </a:srgbClr>
            </a:outerShdw>
          </a:effectLst>
        </p:spPr>
      </p:pic>
      <p:sp>
        <p:nvSpPr>
          <p:cNvPr id="7" name="Téglalap: lekerekített 6">
            <a:extLst>
              <a:ext uri="{FF2B5EF4-FFF2-40B4-BE49-F238E27FC236}">
                <a16:creationId xmlns:a16="http://schemas.microsoft.com/office/drawing/2014/main" id="{BD9B1C95-074F-D62B-C9A2-A8F6DEF03308}"/>
              </a:ext>
            </a:extLst>
          </p:cNvPr>
          <p:cNvSpPr/>
          <p:nvPr/>
        </p:nvSpPr>
        <p:spPr>
          <a:xfrm>
            <a:off x="6017079" y="1389970"/>
            <a:ext cx="2398258" cy="2816678"/>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8" name="Téglalap: lekerekített 7">
            <a:extLst>
              <a:ext uri="{FF2B5EF4-FFF2-40B4-BE49-F238E27FC236}">
                <a16:creationId xmlns:a16="http://schemas.microsoft.com/office/drawing/2014/main" id="{0ECB86FE-0E3A-38F1-E933-A4371A64E016}"/>
              </a:ext>
            </a:extLst>
          </p:cNvPr>
          <p:cNvSpPr/>
          <p:nvPr/>
        </p:nvSpPr>
        <p:spPr>
          <a:xfrm>
            <a:off x="498022" y="1389970"/>
            <a:ext cx="2398258" cy="2816678"/>
          </a:xfrm>
          <a:prstGeom prst="roundRect">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9" name="Téglalap: lekerekített 8">
            <a:extLst>
              <a:ext uri="{FF2B5EF4-FFF2-40B4-BE49-F238E27FC236}">
                <a16:creationId xmlns:a16="http://schemas.microsoft.com/office/drawing/2014/main" id="{B23F7AC2-B09C-9FAF-00D1-4400E2792555}"/>
              </a:ext>
            </a:extLst>
          </p:cNvPr>
          <p:cNvSpPr/>
          <p:nvPr/>
        </p:nvSpPr>
        <p:spPr>
          <a:xfrm>
            <a:off x="3257551" y="1389970"/>
            <a:ext cx="2398258" cy="2816678"/>
          </a:xfrm>
          <a:prstGeom prst="roundRect">
            <a:avLst/>
          </a:prstGeom>
          <a:solidFill>
            <a:srgbClr val="FFC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pic>
        <p:nvPicPr>
          <p:cNvPr id="10" name="Kép 9" descr="A képen Színesség, Grafika, háromszög, művészet látható&#10;&#10;Lehet, hogy az AI által létrehozott tartalom helytelen.">
            <a:extLst>
              <a:ext uri="{FF2B5EF4-FFF2-40B4-BE49-F238E27FC236}">
                <a16:creationId xmlns:a16="http://schemas.microsoft.com/office/drawing/2014/main" id="{C6B804AE-CC6D-B933-5C52-200DE5240632}"/>
              </a:ext>
            </a:extLst>
          </p:cNvPr>
          <p:cNvPicPr>
            <a:picLocks noChangeAspect="1"/>
          </p:cNvPicPr>
          <p:nvPr/>
        </p:nvPicPr>
        <p:blipFill>
          <a:blip r:embed="rId5"/>
          <a:stretch>
            <a:fillRect/>
          </a:stretch>
        </p:blipFill>
        <p:spPr>
          <a:xfrm>
            <a:off x="6506936" y="1387927"/>
            <a:ext cx="1412423" cy="1379766"/>
          </a:xfrm>
          <a:prstGeom prst="rect">
            <a:avLst/>
          </a:prstGeom>
        </p:spPr>
      </p:pic>
      <p:pic>
        <p:nvPicPr>
          <p:cNvPr id="11" name="Kép 10" descr="A képen Grafika, Acélkék, képernyőkép, Grafikus tervezés látható&#10;&#10;Lehet, hogy az AI által létrehozott tartalom helytelen.">
            <a:extLst>
              <a:ext uri="{FF2B5EF4-FFF2-40B4-BE49-F238E27FC236}">
                <a16:creationId xmlns:a16="http://schemas.microsoft.com/office/drawing/2014/main" id="{D25AED84-D11B-A9D8-3E7A-552B6D30B022}"/>
              </a:ext>
            </a:extLst>
          </p:cNvPr>
          <p:cNvPicPr>
            <a:picLocks noChangeAspect="1"/>
          </p:cNvPicPr>
          <p:nvPr/>
        </p:nvPicPr>
        <p:blipFill>
          <a:blip r:embed="rId6"/>
          <a:stretch>
            <a:fillRect/>
          </a:stretch>
        </p:blipFill>
        <p:spPr>
          <a:xfrm>
            <a:off x="6017079" y="2800348"/>
            <a:ext cx="1232808" cy="1167494"/>
          </a:xfrm>
          <a:prstGeom prst="rect">
            <a:avLst/>
          </a:prstGeom>
        </p:spPr>
      </p:pic>
      <p:pic>
        <p:nvPicPr>
          <p:cNvPr id="12" name="Kép 11" descr="A képen Grafika, narancs, piros, tervezés látható&#10;&#10;Lehet, hogy az AI által létrehozott tartalom helytelen.">
            <a:extLst>
              <a:ext uri="{FF2B5EF4-FFF2-40B4-BE49-F238E27FC236}">
                <a16:creationId xmlns:a16="http://schemas.microsoft.com/office/drawing/2014/main" id="{A5DAC6D3-B8F7-7BCB-ACD3-3EE0034A4FD6}"/>
              </a:ext>
            </a:extLst>
          </p:cNvPr>
          <p:cNvPicPr>
            <a:picLocks noChangeAspect="1"/>
          </p:cNvPicPr>
          <p:nvPr/>
        </p:nvPicPr>
        <p:blipFill>
          <a:blip r:embed="rId7"/>
          <a:stretch>
            <a:fillRect/>
          </a:stretch>
        </p:blipFill>
        <p:spPr>
          <a:xfrm>
            <a:off x="7217229" y="2800351"/>
            <a:ext cx="1191986" cy="1167494"/>
          </a:xfrm>
          <a:prstGeom prst="rect">
            <a:avLst/>
          </a:prstGeom>
        </p:spPr>
      </p:pic>
      <p:pic>
        <p:nvPicPr>
          <p:cNvPr id="15" name="Kép 14" descr="A képen szöveg, Grafika, Betűtípus, Grafikus tervezés látható&#10;&#10;Lehet, hogy az AI által létrehozott tartalom helytelen.">
            <a:extLst>
              <a:ext uri="{FF2B5EF4-FFF2-40B4-BE49-F238E27FC236}">
                <a16:creationId xmlns:a16="http://schemas.microsoft.com/office/drawing/2014/main" id="{AB711BB8-2271-5DBB-DF27-A50B9BB3DF4C}"/>
              </a:ext>
            </a:extLst>
          </p:cNvPr>
          <p:cNvPicPr>
            <a:picLocks noChangeAspect="1"/>
          </p:cNvPicPr>
          <p:nvPr/>
        </p:nvPicPr>
        <p:blipFill>
          <a:blip r:embed="rId8"/>
          <a:stretch>
            <a:fillRect/>
          </a:stretch>
        </p:blipFill>
        <p:spPr>
          <a:xfrm>
            <a:off x="3347357" y="1648228"/>
            <a:ext cx="2228851" cy="720371"/>
          </a:xfrm>
          <a:prstGeom prst="rect">
            <a:avLst/>
          </a:prstGeom>
        </p:spPr>
      </p:pic>
      <p:pic>
        <p:nvPicPr>
          <p:cNvPr id="16" name="Kép 15" descr="Java Logo, symbol, meaning, history, PNG, brand">
            <a:extLst>
              <a:ext uri="{FF2B5EF4-FFF2-40B4-BE49-F238E27FC236}">
                <a16:creationId xmlns:a16="http://schemas.microsoft.com/office/drawing/2014/main" id="{429D571B-594C-254A-1E4D-9F65A1793203}"/>
              </a:ext>
            </a:extLst>
          </p:cNvPr>
          <p:cNvPicPr>
            <a:picLocks noChangeAspect="1"/>
          </p:cNvPicPr>
          <p:nvPr/>
        </p:nvPicPr>
        <p:blipFill>
          <a:blip r:embed="rId9"/>
          <a:stretch>
            <a:fillRect/>
          </a:stretch>
        </p:blipFill>
        <p:spPr>
          <a:xfrm>
            <a:off x="3353372" y="2697008"/>
            <a:ext cx="2212521" cy="1281792"/>
          </a:xfrm>
          <a:prstGeom prst="rect">
            <a:avLst/>
          </a:prstGeom>
        </p:spPr>
      </p:pic>
      <p:pic>
        <p:nvPicPr>
          <p:cNvPr id="18" name="Kép 17" descr="MySQL logo PNG transparent image download, size: 394x315px">
            <a:extLst>
              <a:ext uri="{FF2B5EF4-FFF2-40B4-BE49-F238E27FC236}">
                <a16:creationId xmlns:a16="http://schemas.microsoft.com/office/drawing/2014/main" id="{27CBA56E-90C0-946F-F452-BF6BD911998F}"/>
              </a:ext>
            </a:extLst>
          </p:cNvPr>
          <p:cNvPicPr>
            <a:picLocks noChangeAspect="1"/>
          </p:cNvPicPr>
          <p:nvPr/>
        </p:nvPicPr>
        <p:blipFill>
          <a:blip r:embed="rId10"/>
          <a:stretch>
            <a:fillRect/>
          </a:stretch>
        </p:blipFill>
        <p:spPr>
          <a:xfrm>
            <a:off x="742951" y="2046666"/>
            <a:ext cx="1902277" cy="1507367"/>
          </a:xfrm>
          <a:prstGeom prst="rect">
            <a:avLst/>
          </a:prstGeom>
        </p:spPr>
      </p:pic>
      <p:sp>
        <p:nvSpPr>
          <p:cNvPr id="3" name="Szövegdoboz 2">
            <a:extLst>
              <a:ext uri="{FF2B5EF4-FFF2-40B4-BE49-F238E27FC236}">
                <a16:creationId xmlns:a16="http://schemas.microsoft.com/office/drawing/2014/main" id="{11C76E91-AD6C-3803-222F-E1BD5DBB7E9E}"/>
              </a:ext>
            </a:extLst>
          </p:cNvPr>
          <p:cNvSpPr txBox="1"/>
          <p:nvPr/>
        </p:nvSpPr>
        <p:spPr>
          <a:xfrm>
            <a:off x="3747408" y="4367893"/>
            <a:ext cx="164102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hu-HU" sz="2400" b="1" dirty="0">
                <a:solidFill>
                  <a:srgbClr val="FFFFFF"/>
                </a:solidFill>
                <a:latin typeface="Karla"/>
              </a:rPr>
              <a:t>BACKEND</a:t>
            </a:r>
          </a:p>
        </p:txBody>
      </p:sp>
      <p:sp>
        <p:nvSpPr>
          <p:cNvPr id="5" name="Szövegdoboz 4">
            <a:extLst>
              <a:ext uri="{FF2B5EF4-FFF2-40B4-BE49-F238E27FC236}">
                <a16:creationId xmlns:a16="http://schemas.microsoft.com/office/drawing/2014/main" id="{2CE577EC-6AA2-12A1-1EAB-5BF18DABD6D8}"/>
              </a:ext>
            </a:extLst>
          </p:cNvPr>
          <p:cNvSpPr txBox="1"/>
          <p:nvPr/>
        </p:nvSpPr>
        <p:spPr>
          <a:xfrm>
            <a:off x="816429" y="4367893"/>
            <a:ext cx="1763485"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hu-HU" sz="2400" b="1" dirty="0">
                <a:solidFill>
                  <a:srgbClr val="FFFFFF"/>
                </a:solidFill>
                <a:latin typeface="Karla"/>
              </a:rPr>
              <a:t>DATABASE</a:t>
            </a:r>
          </a:p>
        </p:txBody>
      </p:sp>
      <p:sp>
        <p:nvSpPr>
          <p:cNvPr id="13" name="Szövegdoboz 12">
            <a:extLst>
              <a:ext uri="{FF2B5EF4-FFF2-40B4-BE49-F238E27FC236}">
                <a16:creationId xmlns:a16="http://schemas.microsoft.com/office/drawing/2014/main" id="{264EEC6E-9F3F-D45B-A13D-CAFD9BEE777C}"/>
              </a:ext>
            </a:extLst>
          </p:cNvPr>
          <p:cNvSpPr txBox="1"/>
          <p:nvPr/>
        </p:nvSpPr>
        <p:spPr>
          <a:xfrm>
            <a:off x="6275615" y="4365172"/>
            <a:ext cx="1869621"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hu-HU" sz="2400" b="1" dirty="0">
                <a:solidFill>
                  <a:srgbClr val="FFFFFF"/>
                </a:solidFill>
                <a:latin typeface="Karla"/>
              </a:rPr>
              <a:t>FRONTEND</a:t>
            </a:r>
          </a:p>
        </p:txBody>
      </p:sp>
      <p:cxnSp>
        <p:nvCxnSpPr>
          <p:cNvPr id="4" name="Egyenes összekötő nyíllal 3">
            <a:extLst>
              <a:ext uri="{FF2B5EF4-FFF2-40B4-BE49-F238E27FC236}">
                <a16:creationId xmlns:a16="http://schemas.microsoft.com/office/drawing/2014/main" id="{A6EBEC5F-84A1-1CE1-5108-BDD7507F19E2}"/>
              </a:ext>
            </a:extLst>
          </p:cNvPr>
          <p:cNvCxnSpPr/>
          <p:nvPr/>
        </p:nvCxnSpPr>
        <p:spPr>
          <a:xfrm>
            <a:off x="2545216" y="2810554"/>
            <a:ext cx="704169" cy="10205"/>
          </a:xfrm>
          <a:prstGeom prst="straightConnector1">
            <a:avLst/>
          </a:prstGeom>
          <a:ln w="28575">
            <a:solidFill>
              <a:srgbClr val="FF6600"/>
            </a:solidFill>
          </a:ln>
        </p:spPr>
        <p:style>
          <a:lnRef idx="1">
            <a:schemeClr val="accent1"/>
          </a:lnRef>
          <a:fillRef idx="0">
            <a:schemeClr val="accent1"/>
          </a:fillRef>
          <a:effectRef idx="0">
            <a:schemeClr val="accent1"/>
          </a:effectRef>
          <a:fontRef idx="minor">
            <a:schemeClr val="tx1"/>
          </a:fontRef>
        </p:style>
      </p:cxnSp>
      <p:cxnSp>
        <p:nvCxnSpPr>
          <p:cNvPr id="14" name="Egyenes összekötő nyíllal 13">
            <a:extLst>
              <a:ext uri="{FF2B5EF4-FFF2-40B4-BE49-F238E27FC236}">
                <a16:creationId xmlns:a16="http://schemas.microsoft.com/office/drawing/2014/main" id="{1B05BB54-2F18-577C-18AC-76EA87E24946}"/>
              </a:ext>
            </a:extLst>
          </p:cNvPr>
          <p:cNvCxnSpPr/>
          <p:nvPr/>
        </p:nvCxnSpPr>
        <p:spPr>
          <a:xfrm>
            <a:off x="5566002" y="2835047"/>
            <a:ext cx="451077" cy="10205"/>
          </a:xfrm>
          <a:prstGeom prst="straightConnector1">
            <a:avLst/>
          </a:prstGeom>
          <a:ln w="28575">
            <a:solidFill>
              <a:srgbClr val="FFC0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659283131"/>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297280A1-816B-9C87-ECB7-D5947D7ACA9D}"/>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E3E10AAE-9564-0FF5-1F69-F425A981D354}"/>
              </a:ext>
            </a:extLst>
          </p:cNvPr>
          <p:cNvSpPr txBox="1">
            <a:spLocks noGrp="1"/>
          </p:cNvSpPr>
          <p:nvPr>
            <p:ph type="title"/>
          </p:nvPr>
        </p:nvSpPr>
        <p:spPr>
          <a:xfrm>
            <a:off x="1901667" y="212038"/>
            <a:ext cx="5347313" cy="806445"/>
          </a:xfrm>
          <a:prstGeom prst="rect">
            <a:avLst/>
          </a:prstGeom>
        </p:spPr>
        <p:txBody>
          <a:bodyPr spcFirstLastPara="1" wrap="square" lIns="91425" tIns="91425" rIns="91425" bIns="91425" anchor="t" anchorCtr="0">
            <a:noAutofit/>
          </a:bodyPr>
          <a:lstStyle/>
          <a:p>
            <a:r>
              <a:rPr lang="hu" sz="3600" dirty="0">
                <a:solidFill>
                  <a:schemeClr val="bg1"/>
                </a:solidFill>
                <a:latin typeface="Karla ExtraBold"/>
                <a:ea typeface="Karla ExtraBold"/>
                <a:cs typeface="Karla ExtraBold"/>
              </a:rPr>
              <a:t>OTHER TECHNOLOGIES</a:t>
            </a:r>
            <a:endParaRPr lang="hu-HU"/>
          </a:p>
        </p:txBody>
      </p:sp>
      <p:pic>
        <p:nvPicPr>
          <p:cNvPr id="62" name="Google Shape;62;p14">
            <a:extLst>
              <a:ext uri="{FF2B5EF4-FFF2-40B4-BE49-F238E27FC236}">
                <a16:creationId xmlns:a16="http://schemas.microsoft.com/office/drawing/2014/main" id="{CE9908F6-7DC6-7F47-6083-260F1732F917}"/>
              </a:ext>
            </a:extLst>
          </p:cNvPr>
          <p:cNvPicPr preferRelativeResize="0"/>
          <p:nvPr/>
        </p:nvPicPr>
        <p:blipFill>
          <a:blip r:embed="rId4">
            <a:alphaModFix/>
          </a:blip>
          <a:stretch>
            <a:fillRect/>
          </a:stretch>
        </p:blipFill>
        <p:spPr>
          <a:xfrm>
            <a:off x="131925" y="64200"/>
            <a:ext cx="1011136" cy="1105700"/>
          </a:xfrm>
          <a:prstGeom prst="rect">
            <a:avLst/>
          </a:prstGeom>
          <a:noFill/>
          <a:ln>
            <a:noFill/>
          </a:ln>
          <a:effectLst>
            <a:outerShdw blurRad="57150" dist="19050" dir="5400000" algn="bl" rotWithShape="0">
              <a:srgbClr val="000000">
                <a:alpha val="50000"/>
              </a:srgbClr>
            </a:outerShdw>
          </a:effectLst>
        </p:spPr>
      </p:pic>
      <p:pic>
        <p:nvPicPr>
          <p:cNvPr id="4" name="Kép 3" descr="Postman logo transparent PNG - StickPNG">
            <a:extLst>
              <a:ext uri="{FF2B5EF4-FFF2-40B4-BE49-F238E27FC236}">
                <a16:creationId xmlns:a16="http://schemas.microsoft.com/office/drawing/2014/main" id="{52257D5F-1795-7852-5025-BFADA8698CE7}"/>
              </a:ext>
            </a:extLst>
          </p:cNvPr>
          <p:cNvPicPr>
            <a:picLocks noChangeAspect="1"/>
          </p:cNvPicPr>
          <p:nvPr/>
        </p:nvPicPr>
        <p:blipFill>
          <a:blip r:embed="rId5"/>
          <a:stretch>
            <a:fillRect/>
          </a:stretch>
        </p:blipFill>
        <p:spPr>
          <a:xfrm>
            <a:off x="312821" y="2090582"/>
            <a:ext cx="1976187" cy="1774469"/>
          </a:xfrm>
          <a:prstGeom prst="rect">
            <a:avLst/>
          </a:prstGeom>
        </p:spPr>
      </p:pic>
      <p:pic>
        <p:nvPicPr>
          <p:cNvPr id="5" name="Kép 4" descr="Mamp &amp; Mamp Pro - Mamp Logo Png Clipart - Large Size Png Image - PikPng">
            <a:extLst>
              <a:ext uri="{FF2B5EF4-FFF2-40B4-BE49-F238E27FC236}">
                <a16:creationId xmlns:a16="http://schemas.microsoft.com/office/drawing/2014/main" id="{9B19D05C-C011-AE7E-CC54-C0917AE98289}"/>
              </a:ext>
            </a:extLst>
          </p:cNvPr>
          <p:cNvPicPr>
            <a:picLocks noChangeAspect="1"/>
          </p:cNvPicPr>
          <p:nvPr/>
        </p:nvPicPr>
        <p:blipFill>
          <a:blip r:embed="rId6"/>
          <a:stretch>
            <a:fillRect/>
          </a:stretch>
        </p:blipFill>
        <p:spPr>
          <a:xfrm>
            <a:off x="2546183" y="3140243"/>
            <a:ext cx="1705477" cy="1705477"/>
          </a:xfrm>
          <a:prstGeom prst="rect">
            <a:avLst/>
          </a:prstGeom>
        </p:spPr>
      </p:pic>
      <p:pic>
        <p:nvPicPr>
          <p:cNvPr id="6" name="Kép 5" descr="JBoss WildFly Monitoring and Performance Management with Instana | IBM">
            <a:extLst>
              <a:ext uri="{FF2B5EF4-FFF2-40B4-BE49-F238E27FC236}">
                <a16:creationId xmlns:a16="http://schemas.microsoft.com/office/drawing/2014/main" id="{BD3163A2-F408-373E-EBBF-C3BA5598E341}"/>
              </a:ext>
            </a:extLst>
          </p:cNvPr>
          <p:cNvPicPr>
            <a:picLocks noChangeAspect="1"/>
          </p:cNvPicPr>
          <p:nvPr/>
        </p:nvPicPr>
        <p:blipFill>
          <a:blip r:embed="rId7"/>
          <a:stretch>
            <a:fillRect/>
          </a:stretch>
        </p:blipFill>
        <p:spPr>
          <a:xfrm>
            <a:off x="5735804" y="209801"/>
            <a:ext cx="3026443" cy="2633411"/>
          </a:xfrm>
          <a:prstGeom prst="rect">
            <a:avLst/>
          </a:prstGeom>
        </p:spPr>
      </p:pic>
      <p:pic>
        <p:nvPicPr>
          <p:cNvPr id="10" name="Kép 9" descr="Logo npm - Logos PNG">
            <a:extLst>
              <a:ext uri="{FF2B5EF4-FFF2-40B4-BE49-F238E27FC236}">
                <a16:creationId xmlns:a16="http://schemas.microsoft.com/office/drawing/2014/main" id="{ADEF8037-CE15-F8FC-1BA5-EF3927C1B35A}"/>
              </a:ext>
            </a:extLst>
          </p:cNvPr>
          <p:cNvPicPr>
            <a:picLocks noChangeAspect="1"/>
          </p:cNvPicPr>
          <p:nvPr/>
        </p:nvPicPr>
        <p:blipFill>
          <a:blip r:embed="rId8"/>
          <a:stretch>
            <a:fillRect/>
          </a:stretch>
        </p:blipFill>
        <p:spPr>
          <a:xfrm>
            <a:off x="4538913" y="2974808"/>
            <a:ext cx="2397293" cy="2419852"/>
          </a:xfrm>
          <a:prstGeom prst="rect">
            <a:avLst/>
          </a:prstGeom>
        </p:spPr>
      </p:pic>
      <p:pic>
        <p:nvPicPr>
          <p:cNvPr id="11" name="Kép 10" descr="Free High-Quality Typescript Logo Jpg for Creative Design">
            <a:extLst>
              <a:ext uri="{FF2B5EF4-FFF2-40B4-BE49-F238E27FC236}">
                <a16:creationId xmlns:a16="http://schemas.microsoft.com/office/drawing/2014/main" id="{09CB38B5-1099-2981-5E3C-DE8262C0273B}"/>
              </a:ext>
            </a:extLst>
          </p:cNvPr>
          <p:cNvPicPr>
            <a:picLocks noChangeAspect="1"/>
          </p:cNvPicPr>
          <p:nvPr/>
        </p:nvPicPr>
        <p:blipFill>
          <a:blip r:embed="rId9"/>
          <a:stretch>
            <a:fillRect/>
          </a:stretch>
        </p:blipFill>
        <p:spPr>
          <a:xfrm>
            <a:off x="6576762" y="2621380"/>
            <a:ext cx="2743200" cy="2743200"/>
          </a:xfrm>
          <a:prstGeom prst="rect">
            <a:avLst/>
          </a:prstGeom>
        </p:spPr>
      </p:pic>
      <p:pic>
        <p:nvPicPr>
          <p:cNvPr id="2" name="Kép 1" descr="Atlassian jira logo - Social media &amp; Logos Icons">
            <a:extLst>
              <a:ext uri="{FF2B5EF4-FFF2-40B4-BE49-F238E27FC236}">
                <a16:creationId xmlns:a16="http://schemas.microsoft.com/office/drawing/2014/main" id="{58A9AAC2-332A-D684-377D-6C9AF48FC1FA}"/>
              </a:ext>
            </a:extLst>
          </p:cNvPr>
          <p:cNvPicPr>
            <a:picLocks noChangeAspect="1"/>
          </p:cNvPicPr>
          <p:nvPr/>
        </p:nvPicPr>
        <p:blipFill>
          <a:blip r:embed="rId10"/>
          <a:stretch>
            <a:fillRect/>
          </a:stretch>
        </p:blipFill>
        <p:spPr>
          <a:xfrm>
            <a:off x="2286000" y="1118507"/>
            <a:ext cx="1690008" cy="1722665"/>
          </a:xfrm>
          <a:prstGeom prst="rect">
            <a:avLst/>
          </a:prstGeom>
        </p:spPr>
      </p:pic>
      <p:pic>
        <p:nvPicPr>
          <p:cNvPr id="7" name="Kép 6" descr="Github icon. Free download transparent .PNG | Creazilla">
            <a:extLst>
              <a:ext uri="{FF2B5EF4-FFF2-40B4-BE49-F238E27FC236}">
                <a16:creationId xmlns:a16="http://schemas.microsoft.com/office/drawing/2014/main" id="{4822CBE1-805D-767C-BED5-109480B4594B}"/>
              </a:ext>
            </a:extLst>
          </p:cNvPr>
          <p:cNvPicPr>
            <a:picLocks noChangeAspect="1"/>
          </p:cNvPicPr>
          <p:nvPr/>
        </p:nvPicPr>
        <p:blipFill>
          <a:blip r:embed="rId11"/>
          <a:stretch>
            <a:fillRect/>
          </a:stretch>
        </p:blipFill>
        <p:spPr>
          <a:xfrm>
            <a:off x="4412673" y="1529196"/>
            <a:ext cx="1851314" cy="1790700"/>
          </a:xfrm>
          <a:prstGeom prst="rect">
            <a:avLst/>
          </a:prstGeom>
        </p:spPr>
      </p:pic>
    </p:spTree>
    <p:extLst>
      <p:ext uri="{BB962C8B-B14F-4D97-AF65-F5344CB8AC3E}">
        <p14:creationId xmlns:p14="http://schemas.microsoft.com/office/powerpoint/2010/main" val="456793815"/>
      </p:ext>
    </p:extLst>
  </p:cSld>
  <p:clrMapOvr>
    <a:masterClrMapping/>
  </p:clrMapOvr>
  <p:extLst>
    <p:ext uri="{6950BFC3-D8DA-4A85-94F7-54DA5524770B}">
      <p188:commentRel xmlns:p188="http://schemas.microsoft.com/office/powerpoint/2018/8/main" r:id="rId3"/>
    </p:ext>
  </p:extLst>
</p:sld>
</file>

<file path=ppt/slides/slide17.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447B3ECE-6E99-1923-AED1-CF545B8A2E64}"/>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C531BDCD-E661-23A0-4BCE-5186999FC7A6}"/>
              </a:ext>
            </a:extLst>
          </p:cNvPr>
          <p:cNvSpPr txBox="1">
            <a:spLocks noGrp="1"/>
          </p:cNvSpPr>
          <p:nvPr>
            <p:ph type="title"/>
          </p:nvPr>
        </p:nvSpPr>
        <p:spPr>
          <a:xfrm>
            <a:off x="2119607" y="2194026"/>
            <a:ext cx="4897725" cy="756541"/>
          </a:xfrm>
          <a:prstGeom prst="rect">
            <a:avLst/>
          </a:prstGeom>
        </p:spPr>
        <p:txBody>
          <a:bodyPr spcFirstLastPara="1" wrap="square" lIns="91425" tIns="91425" rIns="91425" bIns="91425" anchor="t" anchorCtr="0">
            <a:noAutofit/>
          </a:bodyPr>
          <a:lstStyle/>
          <a:p>
            <a:r>
              <a:rPr lang="hu" sz="3600" dirty="0">
                <a:solidFill>
                  <a:schemeClr val="bg1"/>
                </a:solidFill>
                <a:latin typeface="Karla ExtraBold"/>
                <a:ea typeface="Karla ExtraBold"/>
                <a:cs typeface="Karla ExtraBold"/>
              </a:rPr>
              <a:t>TESTING </a:t>
            </a:r>
            <a:r>
              <a:rPr lang="hu" sz="3600" dirty="0">
                <a:solidFill>
                  <a:srgbClr val="FF6600"/>
                </a:solidFill>
                <a:latin typeface="Karla ExtraBold"/>
                <a:ea typeface="Karla ExtraBold"/>
                <a:cs typeface="Karla ExtraBold"/>
              </a:rPr>
              <a:t>CARCOMPS</a:t>
            </a:r>
            <a:endParaRPr lang="hu-HU">
              <a:solidFill>
                <a:srgbClr val="FF6600"/>
              </a:solidFill>
            </a:endParaRPr>
          </a:p>
        </p:txBody>
      </p:sp>
      <p:pic>
        <p:nvPicPr>
          <p:cNvPr id="62" name="Google Shape;62;p14">
            <a:extLst>
              <a:ext uri="{FF2B5EF4-FFF2-40B4-BE49-F238E27FC236}">
                <a16:creationId xmlns:a16="http://schemas.microsoft.com/office/drawing/2014/main" id="{321BF628-B31A-680F-102D-8ACE14D5CCD1}"/>
              </a:ext>
            </a:extLst>
          </p:cNvPr>
          <p:cNvPicPr preferRelativeResize="0"/>
          <p:nvPr/>
        </p:nvPicPr>
        <p:blipFill>
          <a:blip r:embed="rId3">
            <a:alphaModFix/>
          </a:blip>
          <a:stretch>
            <a:fillRect/>
          </a:stretch>
        </p:blipFill>
        <p:spPr>
          <a:xfrm>
            <a:off x="131925" y="64200"/>
            <a:ext cx="1011136" cy="11057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4902226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E4EEB6C8-FE9B-0EB5-4472-327CC4A42CD3}"/>
            </a:ext>
          </a:extLst>
        </p:cNvPr>
        <p:cNvGrpSpPr/>
        <p:nvPr/>
      </p:nvGrpSpPr>
      <p:grpSpPr>
        <a:xfrm>
          <a:off x="0" y="0"/>
          <a:ext cx="0" cy="0"/>
          <a:chOff x="0" y="0"/>
          <a:chExt cx="0" cy="0"/>
        </a:xfrm>
      </p:grpSpPr>
      <p:pic>
        <p:nvPicPr>
          <p:cNvPr id="2" name="Kép 1" descr="A képen szöveg, képernyőkép, szám, Párhuzamos látható&#10;&#10;Lehet, hogy az AI által létrehozott tartalom helytelen.">
            <a:extLst>
              <a:ext uri="{FF2B5EF4-FFF2-40B4-BE49-F238E27FC236}">
                <a16:creationId xmlns:a16="http://schemas.microsoft.com/office/drawing/2014/main" id="{5F5BEDEF-67C4-9912-3B99-13BE3EB81788}"/>
              </a:ext>
            </a:extLst>
          </p:cNvPr>
          <p:cNvPicPr>
            <a:picLocks noChangeAspect="1"/>
          </p:cNvPicPr>
          <p:nvPr/>
        </p:nvPicPr>
        <p:blipFill>
          <a:blip r:embed="rId3"/>
          <a:stretch>
            <a:fillRect/>
          </a:stretch>
        </p:blipFill>
        <p:spPr>
          <a:xfrm>
            <a:off x="0" y="463246"/>
            <a:ext cx="9144000" cy="4217009"/>
          </a:xfrm>
          <a:prstGeom prst="rect">
            <a:avLst/>
          </a:prstGeom>
        </p:spPr>
      </p:pic>
    </p:spTree>
    <p:extLst>
      <p:ext uri="{BB962C8B-B14F-4D97-AF65-F5344CB8AC3E}">
        <p14:creationId xmlns:p14="http://schemas.microsoft.com/office/powerpoint/2010/main" val="130495416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97A72FC5-61CB-6404-4097-783AF40669D4}"/>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8A98CC2B-1E47-FC77-4B88-406DDCAFA62F}"/>
              </a:ext>
            </a:extLst>
          </p:cNvPr>
          <p:cNvSpPr txBox="1">
            <a:spLocks noGrp="1"/>
          </p:cNvSpPr>
          <p:nvPr>
            <p:ph type="title"/>
          </p:nvPr>
        </p:nvSpPr>
        <p:spPr>
          <a:xfrm>
            <a:off x="1280330" y="2230628"/>
            <a:ext cx="6589664" cy="681894"/>
          </a:xfrm>
          <a:prstGeom prst="rect">
            <a:avLst/>
          </a:prstGeom>
        </p:spPr>
        <p:txBody>
          <a:bodyPr spcFirstLastPara="1" wrap="square" lIns="91425" tIns="91425" rIns="91425" bIns="91425" anchor="t" anchorCtr="0">
            <a:noAutofit/>
          </a:bodyPr>
          <a:lstStyle/>
          <a:p>
            <a:r>
              <a:rPr lang="hu" sz="3600" dirty="0">
                <a:solidFill>
                  <a:schemeClr val="bg1"/>
                </a:solidFill>
                <a:latin typeface="Karla ExtraBold"/>
                <a:ea typeface="Karla ExtraBold"/>
                <a:cs typeface="Karla ExtraBold"/>
              </a:rPr>
              <a:t>WORKFLOW IN </a:t>
            </a:r>
            <a:r>
              <a:rPr lang="hu" sz="3600" dirty="0">
                <a:solidFill>
                  <a:srgbClr val="FF6600"/>
                </a:solidFill>
                <a:latin typeface="Karla ExtraBold"/>
                <a:ea typeface="Karla ExtraBold"/>
                <a:cs typeface="Karla ExtraBold"/>
              </a:rPr>
              <a:t>CARCOMPS</a:t>
            </a:r>
          </a:p>
        </p:txBody>
      </p:sp>
      <p:pic>
        <p:nvPicPr>
          <p:cNvPr id="62" name="Google Shape;62;p14">
            <a:extLst>
              <a:ext uri="{FF2B5EF4-FFF2-40B4-BE49-F238E27FC236}">
                <a16:creationId xmlns:a16="http://schemas.microsoft.com/office/drawing/2014/main" id="{4B2D038E-D5B8-ECB9-38D5-B0F6B0BAB544}"/>
              </a:ext>
            </a:extLst>
          </p:cNvPr>
          <p:cNvPicPr preferRelativeResize="0"/>
          <p:nvPr/>
        </p:nvPicPr>
        <p:blipFill>
          <a:blip r:embed="rId3">
            <a:alphaModFix/>
          </a:blip>
          <a:stretch>
            <a:fillRect/>
          </a:stretch>
        </p:blipFill>
        <p:spPr>
          <a:xfrm>
            <a:off x="131925" y="64200"/>
            <a:ext cx="1011136" cy="11057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3189559219"/>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30365CEF-CBFC-D58C-72DA-BBF0C35B2B4B}"/>
            </a:ext>
          </a:extLst>
        </p:cNvPr>
        <p:cNvGrpSpPr/>
        <p:nvPr/>
      </p:nvGrpSpPr>
      <p:grpSpPr>
        <a:xfrm>
          <a:off x="0" y="0"/>
          <a:ext cx="0" cy="0"/>
          <a:chOff x="0" y="0"/>
          <a:chExt cx="0" cy="0"/>
        </a:xfrm>
      </p:grpSpPr>
      <p:pic>
        <p:nvPicPr>
          <p:cNvPr id="4" name="Kép 3" descr="A képen szöveg, képernyőkép, diagram, Grafika látható&#10;&#10;Lehet, hogy az AI által létrehozott tartalom helytelen.">
            <a:extLst>
              <a:ext uri="{FF2B5EF4-FFF2-40B4-BE49-F238E27FC236}">
                <a16:creationId xmlns:a16="http://schemas.microsoft.com/office/drawing/2014/main" id="{A965BD18-8512-9679-2D49-40A4D50F4A63}"/>
              </a:ext>
            </a:extLst>
          </p:cNvPr>
          <p:cNvPicPr>
            <a:picLocks noChangeAspect="1"/>
          </p:cNvPicPr>
          <p:nvPr/>
        </p:nvPicPr>
        <p:blipFill>
          <a:blip r:embed="rId3"/>
          <a:stretch>
            <a:fillRect/>
          </a:stretch>
        </p:blipFill>
        <p:spPr>
          <a:xfrm>
            <a:off x="218616" y="0"/>
            <a:ext cx="8706768" cy="5143500"/>
          </a:xfrm>
          <a:prstGeom prst="rect">
            <a:avLst/>
          </a:prstGeom>
        </p:spPr>
      </p:pic>
    </p:spTree>
    <p:extLst>
      <p:ext uri="{BB962C8B-B14F-4D97-AF65-F5344CB8AC3E}">
        <p14:creationId xmlns:p14="http://schemas.microsoft.com/office/powerpoint/2010/main" val="289497150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2C1A3947-8F4E-426A-FAE3-715697A9D871}"/>
            </a:ext>
          </a:extLst>
        </p:cNvPr>
        <p:cNvGrpSpPr/>
        <p:nvPr/>
      </p:nvGrpSpPr>
      <p:grpSpPr>
        <a:xfrm>
          <a:off x="0" y="0"/>
          <a:ext cx="0" cy="0"/>
          <a:chOff x="0" y="0"/>
          <a:chExt cx="0" cy="0"/>
        </a:xfrm>
      </p:grpSpPr>
      <p:pic>
        <p:nvPicPr>
          <p:cNvPr id="3" name="Kép 2" descr="A képen képernyőkép, 3D modellezés, Grafikai szoftver, diagram látható&#10;&#10;Lehet, hogy az AI által létrehozott tartalom helytelen.">
            <a:extLst>
              <a:ext uri="{FF2B5EF4-FFF2-40B4-BE49-F238E27FC236}">
                <a16:creationId xmlns:a16="http://schemas.microsoft.com/office/drawing/2014/main" id="{5FD371DA-735B-5291-A06F-3A4F7D5EBB7C}"/>
              </a:ext>
            </a:extLst>
          </p:cNvPr>
          <p:cNvPicPr>
            <a:picLocks noChangeAspect="1"/>
          </p:cNvPicPr>
          <p:nvPr/>
        </p:nvPicPr>
        <p:blipFill>
          <a:blip r:embed="rId3"/>
          <a:stretch>
            <a:fillRect/>
          </a:stretch>
        </p:blipFill>
        <p:spPr>
          <a:xfrm>
            <a:off x="9531" y="0"/>
            <a:ext cx="9124938" cy="5143500"/>
          </a:xfrm>
          <a:prstGeom prst="rect">
            <a:avLst/>
          </a:prstGeom>
        </p:spPr>
      </p:pic>
    </p:spTree>
    <p:extLst>
      <p:ext uri="{BB962C8B-B14F-4D97-AF65-F5344CB8AC3E}">
        <p14:creationId xmlns:p14="http://schemas.microsoft.com/office/powerpoint/2010/main" val="177606519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3F83C655-C510-8F2B-6F39-FC79024D85EC}"/>
            </a:ext>
          </a:extLst>
        </p:cNvPr>
        <p:cNvGrpSpPr/>
        <p:nvPr/>
      </p:nvGrpSpPr>
      <p:grpSpPr>
        <a:xfrm>
          <a:off x="0" y="0"/>
          <a:ext cx="0" cy="0"/>
          <a:chOff x="0" y="0"/>
          <a:chExt cx="0" cy="0"/>
        </a:xfrm>
      </p:grpSpPr>
      <p:pic>
        <p:nvPicPr>
          <p:cNvPr id="5" name="Kép 4" descr="A képen képernyőkép, szöveg, diagram, tervezés látható&#10;&#10;Lehet, hogy az AI által létrehozott tartalom helytelen.">
            <a:extLst>
              <a:ext uri="{FF2B5EF4-FFF2-40B4-BE49-F238E27FC236}">
                <a16:creationId xmlns:a16="http://schemas.microsoft.com/office/drawing/2014/main" id="{BF4F6D07-A957-767E-1471-683CEFC0D772}"/>
              </a:ext>
            </a:extLst>
          </p:cNvPr>
          <p:cNvPicPr>
            <a:picLocks noChangeAspect="1"/>
          </p:cNvPicPr>
          <p:nvPr/>
        </p:nvPicPr>
        <p:blipFill>
          <a:blip r:embed="rId3"/>
          <a:stretch>
            <a:fillRect/>
          </a:stretch>
        </p:blipFill>
        <p:spPr>
          <a:xfrm>
            <a:off x="0" y="1693963"/>
            <a:ext cx="9144000" cy="1706788"/>
          </a:xfrm>
          <a:prstGeom prst="rect">
            <a:avLst/>
          </a:prstGeom>
        </p:spPr>
      </p:pic>
      <p:pic>
        <p:nvPicPr>
          <p:cNvPr id="6" name="Kép 5" descr="A képen képernyőkép, diagram, szöveg, tervezés látható&#10;&#10;Lehet, hogy az AI által létrehozott tartalom helytelen.">
            <a:extLst>
              <a:ext uri="{FF2B5EF4-FFF2-40B4-BE49-F238E27FC236}">
                <a16:creationId xmlns:a16="http://schemas.microsoft.com/office/drawing/2014/main" id="{F9CDDCE7-212E-29E2-20FF-94496C0F4E6B}"/>
              </a:ext>
            </a:extLst>
          </p:cNvPr>
          <p:cNvPicPr>
            <a:picLocks noChangeAspect="1"/>
          </p:cNvPicPr>
          <p:nvPr/>
        </p:nvPicPr>
        <p:blipFill>
          <a:blip r:embed="rId4"/>
          <a:stretch>
            <a:fillRect/>
          </a:stretch>
        </p:blipFill>
        <p:spPr>
          <a:xfrm>
            <a:off x="0" y="3401493"/>
            <a:ext cx="9144000" cy="1630123"/>
          </a:xfrm>
          <a:prstGeom prst="rect">
            <a:avLst/>
          </a:prstGeom>
        </p:spPr>
      </p:pic>
      <p:pic>
        <p:nvPicPr>
          <p:cNvPr id="7" name="Kép 6" descr="A képen képernyőkép, diagram, 3D modellezés, Grafikai szoftver látható&#10;&#10;Lehet, hogy az AI által létrehozott tartalom helytelen.">
            <a:extLst>
              <a:ext uri="{FF2B5EF4-FFF2-40B4-BE49-F238E27FC236}">
                <a16:creationId xmlns:a16="http://schemas.microsoft.com/office/drawing/2014/main" id="{52E8B479-405C-BFB4-57FB-34E48713EB4D}"/>
              </a:ext>
            </a:extLst>
          </p:cNvPr>
          <p:cNvPicPr>
            <a:picLocks noChangeAspect="1"/>
          </p:cNvPicPr>
          <p:nvPr/>
        </p:nvPicPr>
        <p:blipFill>
          <a:blip r:embed="rId5"/>
          <a:stretch>
            <a:fillRect/>
          </a:stretch>
        </p:blipFill>
        <p:spPr>
          <a:xfrm>
            <a:off x="0" y="372"/>
            <a:ext cx="9144000" cy="1692849"/>
          </a:xfrm>
          <a:prstGeom prst="rect">
            <a:avLst/>
          </a:prstGeom>
        </p:spPr>
      </p:pic>
    </p:spTree>
    <p:extLst>
      <p:ext uri="{BB962C8B-B14F-4D97-AF65-F5344CB8AC3E}">
        <p14:creationId xmlns:p14="http://schemas.microsoft.com/office/powerpoint/2010/main" val="1364060938"/>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32825738-3F89-CBEF-6D99-B87BD7E413C9}"/>
            </a:ext>
          </a:extLst>
        </p:cNvPr>
        <p:cNvGrpSpPr/>
        <p:nvPr/>
      </p:nvGrpSpPr>
      <p:grpSpPr>
        <a:xfrm>
          <a:off x="0" y="0"/>
          <a:ext cx="0" cy="0"/>
          <a:chOff x="0" y="0"/>
          <a:chExt cx="0" cy="0"/>
        </a:xfrm>
      </p:grpSpPr>
      <p:pic>
        <p:nvPicPr>
          <p:cNvPr id="62" name="Google Shape;62;p14">
            <a:extLst>
              <a:ext uri="{FF2B5EF4-FFF2-40B4-BE49-F238E27FC236}">
                <a16:creationId xmlns:a16="http://schemas.microsoft.com/office/drawing/2014/main" id="{DB570248-1060-FC73-F39F-B977A7BEE23E}"/>
              </a:ext>
            </a:extLst>
          </p:cNvPr>
          <p:cNvPicPr preferRelativeResize="0"/>
          <p:nvPr/>
        </p:nvPicPr>
        <p:blipFill>
          <a:blip r:embed="rId3">
            <a:alphaModFix/>
          </a:blip>
          <a:stretch>
            <a:fillRect/>
          </a:stretch>
        </p:blipFill>
        <p:spPr>
          <a:xfrm>
            <a:off x="131925" y="64200"/>
            <a:ext cx="1011136" cy="1105700"/>
          </a:xfrm>
          <a:prstGeom prst="rect">
            <a:avLst/>
          </a:prstGeom>
          <a:noFill/>
          <a:ln>
            <a:noFill/>
          </a:ln>
          <a:effectLst>
            <a:outerShdw blurRad="57150" dist="19050" dir="5400000" algn="bl" rotWithShape="0">
              <a:srgbClr val="000000">
                <a:alpha val="50000"/>
              </a:srgbClr>
            </a:outerShdw>
          </a:effectLst>
        </p:spPr>
      </p:pic>
      <p:sp>
        <p:nvSpPr>
          <p:cNvPr id="5" name="Google Shape;60;p14">
            <a:extLst>
              <a:ext uri="{FF2B5EF4-FFF2-40B4-BE49-F238E27FC236}">
                <a16:creationId xmlns:a16="http://schemas.microsoft.com/office/drawing/2014/main" id="{E382D327-8543-54EC-1F6C-9918B8583E89}"/>
              </a:ext>
            </a:extLst>
          </p:cNvPr>
          <p:cNvSpPr txBox="1">
            <a:spLocks/>
          </p:cNvSpPr>
          <p:nvPr/>
        </p:nvSpPr>
        <p:spPr>
          <a:xfrm>
            <a:off x="839414" y="2230980"/>
            <a:ext cx="7461953" cy="673824"/>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chemeClr val="dk1"/>
              </a:buClr>
              <a:buSzPts val="2800"/>
              <a:buFont typeface="Arial"/>
              <a:buNone/>
              <a:defRPr sz="2800" b="0" i="0" u="none" strike="noStrike" cap="none">
                <a:solidFill>
                  <a:schemeClr val="dk1"/>
                </a:solidFill>
                <a:latin typeface="Arial"/>
                <a:ea typeface="Arial"/>
                <a:cs typeface="Arial"/>
                <a:sym typeface="Arial"/>
              </a:defRPr>
            </a:lvl9pPr>
          </a:lstStyle>
          <a:p>
            <a:r>
              <a:rPr lang="hu" sz="3600" dirty="0">
                <a:solidFill>
                  <a:schemeClr val="bg1"/>
                </a:solidFill>
                <a:latin typeface="Karla ExtraBold"/>
              </a:rPr>
              <a:t>FUTURE PLANS FOR </a:t>
            </a:r>
            <a:r>
              <a:rPr lang="hu" sz="3600" dirty="0">
                <a:solidFill>
                  <a:srgbClr val="FF6600"/>
                </a:solidFill>
                <a:latin typeface="Karla ExtraBold"/>
              </a:rPr>
              <a:t>CARCOMPS</a:t>
            </a:r>
            <a:endParaRPr lang="hu-HU">
              <a:solidFill>
                <a:srgbClr val="FF6600"/>
              </a:solidFill>
            </a:endParaRPr>
          </a:p>
        </p:txBody>
      </p:sp>
    </p:spTree>
    <p:extLst>
      <p:ext uri="{BB962C8B-B14F-4D97-AF65-F5344CB8AC3E}">
        <p14:creationId xmlns:p14="http://schemas.microsoft.com/office/powerpoint/2010/main" val="367487785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87201BBA-F517-F015-79E0-380508B1811C}"/>
            </a:ext>
          </a:extLst>
        </p:cNvPr>
        <p:cNvGrpSpPr/>
        <p:nvPr/>
      </p:nvGrpSpPr>
      <p:grpSpPr>
        <a:xfrm>
          <a:off x="0" y="0"/>
          <a:ext cx="0" cy="0"/>
          <a:chOff x="0" y="0"/>
          <a:chExt cx="0" cy="0"/>
        </a:xfrm>
      </p:grpSpPr>
      <p:pic>
        <p:nvPicPr>
          <p:cNvPr id="62" name="Google Shape;62;p14">
            <a:extLst>
              <a:ext uri="{FF2B5EF4-FFF2-40B4-BE49-F238E27FC236}">
                <a16:creationId xmlns:a16="http://schemas.microsoft.com/office/drawing/2014/main" id="{59EF1EB8-1D6C-5332-348E-C15C4D7CFCF4}"/>
              </a:ext>
            </a:extLst>
          </p:cNvPr>
          <p:cNvPicPr preferRelativeResize="0"/>
          <p:nvPr/>
        </p:nvPicPr>
        <p:blipFill>
          <a:blip r:embed="rId3">
            <a:alphaModFix/>
          </a:blip>
          <a:stretch>
            <a:fillRect/>
          </a:stretch>
        </p:blipFill>
        <p:spPr>
          <a:xfrm>
            <a:off x="131925" y="64200"/>
            <a:ext cx="1011136" cy="1105700"/>
          </a:xfrm>
          <a:prstGeom prst="rect">
            <a:avLst/>
          </a:prstGeom>
          <a:noFill/>
          <a:ln>
            <a:noFill/>
          </a:ln>
          <a:effectLst>
            <a:outerShdw blurRad="57150" dist="19050" dir="5400000" algn="bl" rotWithShape="0">
              <a:srgbClr val="000000">
                <a:alpha val="50000"/>
              </a:srgbClr>
            </a:outerShdw>
          </a:effectLst>
        </p:spPr>
      </p:pic>
      <p:sp>
        <p:nvSpPr>
          <p:cNvPr id="8" name="Téglalap: lekerekített 7">
            <a:extLst>
              <a:ext uri="{FF2B5EF4-FFF2-40B4-BE49-F238E27FC236}">
                <a16:creationId xmlns:a16="http://schemas.microsoft.com/office/drawing/2014/main" id="{DA0F36AA-F0DC-2B7B-2F52-6EC3E6158513}"/>
              </a:ext>
            </a:extLst>
          </p:cNvPr>
          <p:cNvSpPr/>
          <p:nvPr/>
        </p:nvSpPr>
        <p:spPr>
          <a:xfrm>
            <a:off x="3202979" y="1163732"/>
            <a:ext cx="2738794" cy="786350"/>
          </a:xfrm>
          <a:prstGeom prst="roundRect">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lIns="91440" tIns="45720" rIns="91440" bIns="45720" rtlCol="0" anchor="ctr"/>
          <a:lstStyle/>
          <a:p>
            <a:pPr algn="ctr"/>
            <a:r>
              <a:rPr lang="hu-HU" sz="2400" b="1" i="0" dirty="0">
                <a:latin typeface="Karla"/>
                <a:ea typeface="gg sans"/>
                <a:cs typeface="gg sans"/>
              </a:rPr>
              <a:t>More</a:t>
            </a:r>
            <a:r>
              <a:rPr lang="hu-HU" sz="2400" b="0" i="0" dirty="0">
                <a:latin typeface="Karla"/>
                <a:ea typeface="gg sans"/>
                <a:cs typeface="gg sans"/>
              </a:rPr>
              <a:t> </a:t>
            </a:r>
            <a:r>
              <a:rPr lang="hu-HU" sz="2400" b="1" i="0" err="1">
                <a:latin typeface="Karla"/>
                <a:ea typeface="gg sans"/>
                <a:cs typeface="gg sans"/>
              </a:rPr>
              <a:t>statistics</a:t>
            </a:r>
            <a:endParaRPr lang="hu-HU" sz="2400" b="1" err="1">
              <a:latin typeface="Karla"/>
            </a:endParaRPr>
          </a:p>
        </p:txBody>
      </p:sp>
      <p:grpSp>
        <p:nvGrpSpPr>
          <p:cNvPr id="30" name="Csoportba foglalás 29">
            <a:extLst>
              <a:ext uri="{FF2B5EF4-FFF2-40B4-BE49-F238E27FC236}">
                <a16:creationId xmlns:a16="http://schemas.microsoft.com/office/drawing/2014/main" id="{17A2BDD6-8D9B-BAC5-975C-4DE9626A568A}"/>
              </a:ext>
            </a:extLst>
          </p:cNvPr>
          <p:cNvGrpSpPr/>
          <p:nvPr/>
        </p:nvGrpSpPr>
        <p:grpSpPr>
          <a:xfrm>
            <a:off x="2745777" y="2179539"/>
            <a:ext cx="3651476" cy="786350"/>
            <a:chOff x="3325442" y="1171895"/>
            <a:chExt cx="3398383" cy="786350"/>
          </a:xfrm>
        </p:grpSpPr>
        <p:sp>
          <p:nvSpPr>
            <p:cNvPr id="9" name="Téglalap: lekerekített 8">
              <a:extLst>
                <a:ext uri="{FF2B5EF4-FFF2-40B4-BE49-F238E27FC236}">
                  <a16:creationId xmlns:a16="http://schemas.microsoft.com/office/drawing/2014/main" id="{E5EB2E22-0F2C-5FF7-3387-E8B7B04610E4}"/>
                </a:ext>
              </a:extLst>
            </p:cNvPr>
            <p:cNvSpPr/>
            <p:nvPr/>
          </p:nvSpPr>
          <p:spPr>
            <a:xfrm>
              <a:off x="3325442" y="1171895"/>
              <a:ext cx="3398383" cy="786350"/>
            </a:xfrm>
            <a:prstGeom prst="roundRect">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11" name="Szövegdoboz 10">
              <a:extLst>
                <a:ext uri="{FF2B5EF4-FFF2-40B4-BE49-F238E27FC236}">
                  <a16:creationId xmlns:a16="http://schemas.microsoft.com/office/drawing/2014/main" id="{1EE1EC73-AAED-14A8-8C68-A60C58133FDD}"/>
                </a:ext>
              </a:extLst>
            </p:cNvPr>
            <p:cNvSpPr txBox="1"/>
            <p:nvPr/>
          </p:nvSpPr>
          <p:spPr>
            <a:xfrm>
              <a:off x="3484144" y="1330349"/>
              <a:ext cx="3098514"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hu-HU" sz="2400" b="1" err="1">
                  <a:solidFill>
                    <a:srgbClr val="FFFFFF"/>
                  </a:solidFill>
                  <a:latin typeface="Karla"/>
                </a:rPr>
                <a:t>Better</a:t>
              </a:r>
              <a:r>
                <a:rPr lang="hu-HU" sz="2400" b="1" dirty="0">
                  <a:solidFill>
                    <a:srgbClr val="FFFFFF"/>
                  </a:solidFill>
                  <a:latin typeface="Karla"/>
                </a:rPr>
                <a:t> </a:t>
              </a:r>
              <a:r>
                <a:rPr lang="hu-HU" sz="2400" b="1" err="1">
                  <a:solidFill>
                    <a:srgbClr val="FFFFFF"/>
                  </a:solidFill>
                  <a:latin typeface="Karla"/>
                </a:rPr>
                <a:t>review</a:t>
              </a:r>
              <a:r>
                <a:rPr lang="hu-HU" sz="2400" b="1" dirty="0">
                  <a:solidFill>
                    <a:srgbClr val="FFFFFF"/>
                  </a:solidFill>
                  <a:latin typeface="Karla"/>
                </a:rPr>
                <a:t> </a:t>
              </a:r>
              <a:r>
                <a:rPr lang="hu-HU" sz="2400" b="1" err="1">
                  <a:solidFill>
                    <a:srgbClr val="FFFFFF"/>
                  </a:solidFill>
                  <a:latin typeface="Karla"/>
                </a:rPr>
                <a:t>system</a:t>
              </a:r>
              <a:endParaRPr lang="hu-HU" sz="2400" b="1">
                <a:latin typeface="Karla"/>
              </a:endParaRPr>
            </a:p>
          </p:txBody>
        </p:sp>
      </p:grpSp>
      <p:grpSp>
        <p:nvGrpSpPr>
          <p:cNvPr id="29" name="Csoportba foglalás 28">
            <a:extLst>
              <a:ext uri="{FF2B5EF4-FFF2-40B4-BE49-F238E27FC236}">
                <a16:creationId xmlns:a16="http://schemas.microsoft.com/office/drawing/2014/main" id="{6DB7E3AB-4614-2A68-F02D-0352FBE647C7}"/>
              </a:ext>
            </a:extLst>
          </p:cNvPr>
          <p:cNvGrpSpPr/>
          <p:nvPr/>
        </p:nvGrpSpPr>
        <p:grpSpPr>
          <a:xfrm>
            <a:off x="2288578" y="3159685"/>
            <a:ext cx="4571677" cy="786350"/>
            <a:chOff x="3325441" y="2179541"/>
            <a:chExt cx="4877844" cy="786350"/>
          </a:xfrm>
        </p:grpSpPr>
        <p:sp>
          <p:nvSpPr>
            <p:cNvPr id="21" name="Téglalap: lekerekített 20">
              <a:extLst>
                <a:ext uri="{FF2B5EF4-FFF2-40B4-BE49-F238E27FC236}">
                  <a16:creationId xmlns:a16="http://schemas.microsoft.com/office/drawing/2014/main" id="{0A71F8D3-F429-46B5-0C3B-19F524E60C4A}"/>
                </a:ext>
              </a:extLst>
            </p:cNvPr>
            <p:cNvSpPr/>
            <p:nvPr/>
          </p:nvSpPr>
          <p:spPr>
            <a:xfrm>
              <a:off x="3325441" y="2179541"/>
              <a:ext cx="4877844" cy="786350"/>
            </a:xfrm>
            <a:prstGeom prst="roundRect">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23" name="Szövegdoboz 22">
              <a:extLst>
                <a:ext uri="{FF2B5EF4-FFF2-40B4-BE49-F238E27FC236}">
                  <a16:creationId xmlns:a16="http://schemas.microsoft.com/office/drawing/2014/main" id="{CF8FC732-E2EE-99C0-7FCA-AF45969769A9}"/>
                </a:ext>
              </a:extLst>
            </p:cNvPr>
            <p:cNvSpPr txBox="1"/>
            <p:nvPr/>
          </p:nvSpPr>
          <p:spPr>
            <a:xfrm>
              <a:off x="3713489" y="2340000"/>
              <a:ext cx="4091788"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hu-HU" sz="2400" b="1" err="1">
                  <a:solidFill>
                    <a:srgbClr val="FFFFFF"/>
                  </a:solidFill>
                  <a:latin typeface="Karla"/>
                </a:rPr>
                <a:t>Full</a:t>
              </a:r>
              <a:r>
                <a:rPr lang="hu-HU" sz="2400" b="1" dirty="0">
                  <a:solidFill>
                    <a:srgbClr val="FFFFFF"/>
                  </a:solidFill>
                  <a:latin typeface="Karla"/>
                </a:rPr>
                <a:t> </a:t>
              </a:r>
              <a:r>
                <a:rPr lang="hu-HU" sz="2400" b="1" err="1">
                  <a:solidFill>
                    <a:srgbClr val="FFFFFF"/>
                  </a:solidFill>
                  <a:latin typeface="Karla"/>
                </a:rPr>
                <a:t>Logistics</a:t>
              </a:r>
              <a:r>
                <a:rPr lang="hu-HU" sz="2400" b="1" dirty="0">
                  <a:solidFill>
                    <a:srgbClr val="FFFFFF"/>
                  </a:solidFill>
                  <a:latin typeface="Karla"/>
                </a:rPr>
                <a:t> </a:t>
              </a:r>
              <a:r>
                <a:rPr lang="hu-HU" sz="2400" b="1" err="1">
                  <a:solidFill>
                    <a:srgbClr val="FFFFFF"/>
                  </a:solidFill>
                  <a:latin typeface="Karla"/>
                </a:rPr>
                <a:t>dashboard</a:t>
              </a:r>
              <a:r>
                <a:rPr lang="hu-HU" sz="2400" b="1" dirty="0">
                  <a:solidFill>
                    <a:srgbClr val="FFFFFF"/>
                  </a:solidFill>
                  <a:latin typeface="Karla"/>
                </a:rPr>
                <a:t> </a:t>
              </a:r>
              <a:endParaRPr lang="hu-HU" sz="2400" b="1" dirty="0">
                <a:latin typeface="Karla"/>
              </a:endParaRPr>
            </a:p>
          </p:txBody>
        </p:sp>
      </p:grpSp>
      <p:grpSp>
        <p:nvGrpSpPr>
          <p:cNvPr id="28" name="Csoportba foglalás 27">
            <a:extLst>
              <a:ext uri="{FF2B5EF4-FFF2-40B4-BE49-F238E27FC236}">
                <a16:creationId xmlns:a16="http://schemas.microsoft.com/office/drawing/2014/main" id="{5A23997C-5FCD-6C12-F2F2-83A09D1C9644}"/>
              </a:ext>
            </a:extLst>
          </p:cNvPr>
          <p:cNvGrpSpPr/>
          <p:nvPr/>
        </p:nvGrpSpPr>
        <p:grpSpPr>
          <a:xfrm>
            <a:off x="1831376" y="4131662"/>
            <a:ext cx="5482422" cy="786350"/>
            <a:chOff x="3325440" y="3111986"/>
            <a:chExt cx="5854745" cy="786350"/>
          </a:xfrm>
        </p:grpSpPr>
        <p:sp>
          <p:nvSpPr>
            <p:cNvPr id="24" name="Téglalap: lekerekített 23">
              <a:extLst>
                <a:ext uri="{FF2B5EF4-FFF2-40B4-BE49-F238E27FC236}">
                  <a16:creationId xmlns:a16="http://schemas.microsoft.com/office/drawing/2014/main" id="{1300FC99-0BD1-CA26-B1B4-69602DFEB48D}"/>
                </a:ext>
              </a:extLst>
            </p:cNvPr>
            <p:cNvSpPr/>
            <p:nvPr/>
          </p:nvSpPr>
          <p:spPr>
            <a:xfrm>
              <a:off x="3325440" y="3111986"/>
              <a:ext cx="5854745" cy="786350"/>
            </a:xfrm>
            <a:prstGeom prst="roundRect">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26" name="Szövegdoboz 25">
              <a:extLst>
                <a:ext uri="{FF2B5EF4-FFF2-40B4-BE49-F238E27FC236}">
                  <a16:creationId xmlns:a16="http://schemas.microsoft.com/office/drawing/2014/main" id="{7E3317CF-5011-4707-D538-175EF99FDA9A}"/>
                </a:ext>
              </a:extLst>
            </p:cNvPr>
            <p:cNvSpPr txBox="1"/>
            <p:nvPr/>
          </p:nvSpPr>
          <p:spPr>
            <a:xfrm>
              <a:off x="3721251" y="3275096"/>
              <a:ext cx="5075586"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hu-HU" sz="2400" b="1" err="1">
                  <a:solidFill>
                    <a:srgbClr val="FFFFFF"/>
                  </a:solidFill>
                  <a:latin typeface="Karla"/>
                </a:rPr>
                <a:t>Card</a:t>
              </a:r>
              <a:r>
                <a:rPr lang="hu-HU" sz="2400" b="1" dirty="0">
                  <a:solidFill>
                    <a:srgbClr val="FFFFFF"/>
                  </a:solidFill>
                  <a:latin typeface="Karla"/>
                </a:rPr>
                <a:t> </a:t>
              </a:r>
              <a:r>
                <a:rPr lang="hu-HU" sz="2400" b="1" err="1">
                  <a:solidFill>
                    <a:srgbClr val="FFFFFF"/>
                  </a:solidFill>
                  <a:latin typeface="Karla"/>
                </a:rPr>
                <a:t>payment</a:t>
              </a:r>
              <a:r>
                <a:rPr lang="hu-HU" sz="2400" b="1" dirty="0">
                  <a:solidFill>
                    <a:srgbClr val="FFFFFF"/>
                  </a:solidFill>
                  <a:latin typeface="Karla"/>
                </a:rPr>
                <a:t> </a:t>
              </a:r>
              <a:r>
                <a:rPr lang="hu-HU" sz="2400" b="1" err="1">
                  <a:solidFill>
                    <a:srgbClr val="FFFFFF"/>
                  </a:solidFill>
                  <a:latin typeface="Karla"/>
                </a:rPr>
                <a:t>implementation</a:t>
              </a:r>
              <a:endParaRPr lang="hu-HU" sz="2400" b="1" err="1">
                <a:latin typeface="Karla"/>
              </a:endParaRPr>
            </a:p>
          </p:txBody>
        </p:sp>
      </p:grpSp>
      <p:grpSp>
        <p:nvGrpSpPr>
          <p:cNvPr id="37" name="Csoportba foglalás 36">
            <a:extLst>
              <a:ext uri="{FF2B5EF4-FFF2-40B4-BE49-F238E27FC236}">
                <a16:creationId xmlns:a16="http://schemas.microsoft.com/office/drawing/2014/main" id="{2CC53BF7-A6EC-B3F7-839F-725227D656B3}"/>
              </a:ext>
            </a:extLst>
          </p:cNvPr>
          <p:cNvGrpSpPr/>
          <p:nvPr/>
        </p:nvGrpSpPr>
        <p:grpSpPr>
          <a:xfrm>
            <a:off x="3660175" y="216244"/>
            <a:ext cx="1829983" cy="786350"/>
            <a:chOff x="3325439" y="4036914"/>
            <a:chExt cx="2360661" cy="786350"/>
          </a:xfrm>
        </p:grpSpPr>
        <p:sp>
          <p:nvSpPr>
            <p:cNvPr id="32" name="Téglalap: lekerekített 31">
              <a:extLst>
                <a:ext uri="{FF2B5EF4-FFF2-40B4-BE49-F238E27FC236}">
                  <a16:creationId xmlns:a16="http://schemas.microsoft.com/office/drawing/2014/main" id="{876541AE-1445-33A9-E635-4F3096006A59}"/>
                </a:ext>
              </a:extLst>
            </p:cNvPr>
            <p:cNvSpPr/>
            <p:nvPr/>
          </p:nvSpPr>
          <p:spPr>
            <a:xfrm>
              <a:off x="3325439" y="4036914"/>
              <a:ext cx="2360661" cy="786350"/>
            </a:xfrm>
            <a:prstGeom prst="roundRect">
              <a:avLst/>
            </a:prstGeom>
            <a:solidFill>
              <a:srgbClr val="FF66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hu-HU"/>
            </a:p>
          </p:txBody>
        </p:sp>
        <p:sp>
          <p:nvSpPr>
            <p:cNvPr id="36" name="Szövegdoboz 35">
              <a:extLst>
                <a:ext uri="{FF2B5EF4-FFF2-40B4-BE49-F238E27FC236}">
                  <a16:creationId xmlns:a16="http://schemas.microsoft.com/office/drawing/2014/main" id="{7F86BAA8-BAAA-EE00-6D6E-07E1D7F8C42F}"/>
                </a:ext>
              </a:extLst>
            </p:cNvPr>
            <p:cNvSpPr txBox="1"/>
            <p:nvPr/>
          </p:nvSpPr>
          <p:spPr>
            <a:xfrm>
              <a:off x="3332675" y="4204177"/>
              <a:ext cx="2343253" cy="46166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b="1" i="0" dirty="0">
                  <a:solidFill>
                    <a:srgbClr val="FFFFFF"/>
                  </a:solidFill>
                  <a:latin typeface="Karla"/>
                  <a:ea typeface="gg sans"/>
                  <a:cs typeface="gg sans"/>
                </a:rPr>
                <a:t>24/7 </a:t>
              </a:r>
              <a:r>
                <a:rPr lang="en-US" sz="2400" b="1" dirty="0">
                  <a:solidFill>
                    <a:srgbClr val="FFFFFF"/>
                  </a:solidFill>
                  <a:latin typeface="Karla"/>
                  <a:ea typeface="gg sans"/>
                  <a:cs typeface="gg sans"/>
                </a:rPr>
                <a:t>server</a:t>
              </a:r>
              <a:r>
                <a:rPr lang="en-US" sz="2400" b="1" i="0" dirty="0">
                  <a:solidFill>
                    <a:srgbClr val="FFFFFF"/>
                  </a:solidFill>
                  <a:latin typeface="Karla"/>
                  <a:ea typeface="gg sans"/>
                  <a:cs typeface="gg sans"/>
                </a:rPr>
                <a:t> </a:t>
              </a:r>
              <a:endParaRPr lang="en-US" sz="2400" b="1" dirty="0">
                <a:solidFill>
                  <a:srgbClr val="FFFFFF"/>
                </a:solidFill>
                <a:latin typeface="Karla"/>
              </a:endParaRPr>
            </a:p>
          </p:txBody>
        </p:sp>
      </p:grpSp>
    </p:spTree>
    <p:extLst>
      <p:ext uri="{BB962C8B-B14F-4D97-AF65-F5344CB8AC3E}">
        <p14:creationId xmlns:p14="http://schemas.microsoft.com/office/powerpoint/2010/main" val="312635019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rgbClr val="2B2B2B"/>
        </a:solidFill>
        <a:effectLst/>
      </p:bgPr>
    </p:bg>
    <p:spTree>
      <p:nvGrpSpPr>
        <p:cNvPr id="1" name="Shape 59">
          <a:extLst>
            <a:ext uri="{FF2B5EF4-FFF2-40B4-BE49-F238E27FC236}">
              <a16:creationId xmlns:a16="http://schemas.microsoft.com/office/drawing/2014/main" id="{73171100-01FE-72E9-4191-DE83FF4EF5B7}"/>
            </a:ext>
          </a:extLst>
        </p:cNvPr>
        <p:cNvGrpSpPr/>
        <p:nvPr/>
      </p:nvGrpSpPr>
      <p:grpSpPr>
        <a:xfrm>
          <a:off x="0" y="0"/>
          <a:ext cx="0" cy="0"/>
          <a:chOff x="0" y="0"/>
          <a:chExt cx="0" cy="0"/>
        </a:xfrm>
      </p:grpSpPr>
      <p:sp>
        <p:nvSpPr>
          <p:cNvPr id="60" name="Google Shape;60;p14">
            <a:extLst>
              <a:ext uri="{FF2B5EF4-FFF2-40B4-BE49-F238E27FC236}">
                <a16:creationId xmlns:a16="http://schemas.microsoft.com/office/drawing/2014/main" id="{D88B8CF5-C8F0-B6BD-E910-F6BCE0101D23}"/>
              </a:ext>
            </a:extLst>
          </p:cNvPr>
          <p:cNvSpPr txBox="1">
            <a:spLocks noGrp="1"/>
          </p:cNvSpPr>
          <p:nvPr>
            <p:ph type="title"/>
          </p:nvPr>
        </p:nvSpPr>
        <p:spPr>
          <a:xfrm>
            <a:off x="1682910" y="2076934"/>
            <a:ext cx="5777532" cy="989653"/>
          </a:xfrm>
          <a:prstGeom prst="rect">
            <a:avLst/>
          </a:prstGeom>
        </p:spPr>
        <p:txBody>
          <a:bodyPr spcFirstLastPara="1" wrap="square" lIns="91425" tIns="91425" rIns="91425" bIns="91425" anchor="t" anchorCtr="0">
            <a:noAutofit/>
          </a:bodyPr>
          <a:lstStyle/>
          <a:p>
            <a:r>
              <a:rPr lang="hu" sz="5400" dirty="0">
                <a:solidFill>
                  <a:schemeClr val="bg1"/>
                </a:solidFill>
                <a:latin typeface="Karla ExtraBold"/>
                <a:ea typeface="Karla ExtraBold"/>
                <a:cs typeface="Karla ExtraBold"/>
              </a:rPr>
              <a:t>TRY </a:t>
            </a:r>
            <a:r>
              <a:rPr lang="hu" sz="5400" dirty="0">
                <a:solidFill>
                  <a:srgbClr val="FF6600"/>
                </a:solidFill>
                <a:latin typeface="Karla ExtraBold"/>
                <a:ea typeface="Karla ExtraBold"/>
                <a:cs typeface="Karla ExtraBold"/>
              </a:rPr>
              <a:t>CARCOMPS!</a:t>
            </a:r>
          </a:p>
        </p:txBody>
      </p:sp>
      <p:pic>
        <p:nvPicPr>
          <p:cNvPr id="62" name="Google Shape;62;p14">
            <a:extLst>
              <a:ext uri="{FF2B5EF4-FFF2-40B4-BE49-F238E27FC236}">
                <a16:creationId xmlns:a16="http://schemas.microsoft.com/office/drawing/2014/main" id="{2C277DEF-1A35-70ED-B9B2-06750D00A5CF}"/>
              </a:ext>
            </a:extLst>
          </p:cNvPr>
          <p:cNvPicPr preferRelativeResize="0"/>
          <p:nvPr/>
        </p:nvPicPr>
        <p:blipFill>
          <a:blip r:embed="rId3">
            <a:alphaModFix/>
          </a:blip>
          <a:stretch>
            <a:fillRect/>
          </a:stretch>
        </p:blipFill>
        <p:spPr>
          <a:xfrm>
            <a:off x="131925" y="64200"/>
            <a:ext cx="1011136" cy="1105700"/>
          </a:xfrm>
          <a:prstGeom prst="rect">
            <a:avLst/>
          </a:prstGeom>
          <a:noFill/>
          <a:ln>
            <a:noFill/>
          </a:ln>
          <a:effectLst>
            <a:outerShdw blurRad="57150" dist="19050" dir="5400000" algn="bl" rotWithShape="0">
              <a:srgbClr val="000000">
                <a:alpha val="50000"/>
              </a:srgbClr>
            </a:outerShdw>
          </a:effectLst>
        </p:spPr>
      </p:pic>
    </p:spTree>
    <p:extLst>
      <p:ext uri="{BB962C8B-B14F-4D97-AF65-F5344CB8AC3E}">
        <p14:creationId xmlns:p14="http://schemas.microsoft.com/office/powerpoint/2010/main" val="1467792890"/>
      </p:ext>
    </p:extLst>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Application>Microsoft Office PowerPoint</Application>
  <PresentationFormat>Diavetítés a képernyőre (16:9 oldalarány)</PresentationFormat>
  <Slides>25</Slides>
  <Notes>25</Notes>
  <HiddenSlides>0</HiddenSlides>
  <ScaleCrop>false</ScaleCrop>
  <HeadingPairs>
    <vt:vector size="4" baseType="variant">
      <vt:variant>
        <vt:lpstr>Téma</vt:lpstr>
      </vt:variant>
      <vt:variant>
        <vt:i4>1</vt:i4>
      </vt:variant>
      <vt:variant>
        <vt:lpstr>Diacímek</vt:lpstr>
      </vt:variant>
      <vt:variant>
        <vt:i4>25</vt:i4>
      </vt:variant>
    </vt:vector>
  </HeadingPairs>
  <TitlesOfParts>
    <vt:vector size="26" baseType="lpstr">
      <vt:lpstr>Simple Light</vt:lpstr>
      <vt:lpstr>PowerPoint-bemutató</vt:lpstr>
      <vt:lpstr>PowerPoint-bemutató</vt:lpstr>
      <vt:lpstr>PowerPoint-bemutató</vt:lpstr>
      <vt:lpstr>WHAT IS CARCOMPS?</vt:lpstr>
      <vt:lpstr>WHY CARCOMPS?</vt:lpstr>
      <vt:lpstr>HOW WE BUILT CARCOMPS?</vt:lpstr>
      <vt:lpstr>PowerPoint-bemutató</vt:lpstr>
      <vt:lpstr>DATABASE</vt:lpstr>
      <vt:lpstr>PowerPoint-bemutató</vt:lpstr>
      <vt:lpstr>PowerPoint-bemutató</vt:lpstr>
      <vt:lpstr>PowerPoint-bemutató</vt:lpstr>
      <vt:lpstr>BACKEND</vt:lpstr>
      <vt:lpstr>PowerPoint-bemutató</vt:lpstr>
      <vt:lpstr>FRONTEND</vt:lpstr>
      <vt:lpstr>PowerPoint-bemutató</vt:lpstr>
      <vt:lpstr>OTHER TECHNOLOGIES</vt:lpstr>
      <vt:lpstr>TESTING CARCOMPS</vt:lpstr>
      <vt:lpstr>PowerPoint-bemutató</vt:lpstr>
      <vt:lpstr>WORKFLOW IN CARCOMPS</vt:lpstr>
      <vt:lpstr>PowerPoint-bemutató</vt:lpstr>
      <vt:lpstr>PowerPoint-bemutató</vt:lpstr>
      <vt:lpstr>PowerPoint-bemutató</vt:lpstr>
      <vt:lpstr>PowerPoint-bemutató</vt:lpstr>
      <vt:lpstr>PowerPoint-bemutató</vt:lpstr>
      <vt:lpstr>TRY CARCOMPS!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revision>1111</cp:revision>
  <dcterms:modified xsi:type="dcterms:W3CDTF">2026-04-30T19:43:46Z</dcterms:modified>
</cp:coreProperties>
</file>